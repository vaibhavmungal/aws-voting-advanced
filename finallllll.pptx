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56" r:id="rId2"/>
    <p:sldId id="259" r:id="rId3"/>
    <p:sldId id="262" r:id="rId4"/>
    <p:sldId id="263" r:id="rId5"/>
    <p:sldId id="264" r:id="rId6"/>
    <p:sldId id="265" r:id="rId7"/>
    <p:sldId id="266" r:id="rId8"/>
    <p:sldId id="270" r:id="rId9"/>
    <p:sldId id="273" r:id="rId10"/>
    <p:sldId id="275" r:id="rId11"/>
    <p:sldId id="276" r:id="rId12"/>
    <p:sldId id="277" r:id="rId13"/>
    <p:sldId id="278" r:id="rId14"/>
    <p:sldId id="271" r:id="rId15"/>
    <p:sldId id="280" r:id="rId16"/>
    <p:sldId id="284" r:id="rId17"/>
    <p:sldId id="281" r:id="rId18"/>
    <p:sldId id="282" r:id="rId19"/>
    <p:sldId id="285" r:id="rId27"/>
    <p:sldId id="286" r:id="rId28"/>
    <p:sldId id="283" r:id="rId20"/>
    <p:sldId id="274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7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7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65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4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34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3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323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6235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83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82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41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79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938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182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60C8-C97C-2FC0-5BE4-0DF92DAF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343" y="732239"/>
            <a:ext cx="8825658" cy="1348381"/>
          </a:xfrm>
        </p:spPr>
        <p:txBody>
          <a:bodyPr/>
          <a:lstStyle/>
          <a:p>
            <a:r>
              <a:rPr lang="en-US" sz="3200" b="1" dirty="0"/>
              <a:t>Cloud-Based Online Voting System Using AWS &amp; DevOps 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4A4BB-46B6-8AD7-F706-85D925209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556588"/>
            <a:ext cx="8825658" cy="3082212"/>
          </a:xfrm>
        </p:spPr>
        <p:txBody>
          <a:bodyPr>
            <a:normAutofit/>
          </a:bodyPr>
          <a:lstStyle/>
          <a:p>
            <a:r>
              <a:rPr lang="en-I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18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Vaibhav S. </a:t>
            </a:r>
            <a:r>
              <a:rPr lang="en-IN" sz="18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Mungal</a:t>
            </a:r>
            <a:r>
              <a:rPr lang="en-I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(82)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</a:p>
          <a:p>
            <a:r>
              <a:rPr lang="en-IN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IN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Engineering</a:t>
            </a:r>
          </a:p>
          <a:p>
            <a:endParaRPr lang="en-IN" sz="1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Academic Year: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2025–26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443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1F5BC-3919-0D01-B237-ACC3D997A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ADEBD-6934-2CDE-BEE9-F86B248A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Our project is a Cloud-Based Online Voting System. The main purpose of this project is to allow users to register, authenticate themselves, cast their vote online, and view election results.</a:t>
            </a:r>
          </a:p>
          <a:p>
            <a:r>
              <a:rPr lang="en-IN" sz="1600" dirty="0"/>
              <a:t>The application is developed using web technologies and deployed in a cloud environment. The system provides a faster and more accessible voting process compared with traditional paper-based voting.</a:t>
            </a:r>
          </a:p>
          <a:p>
            <a:r>
              <a:rPr lang="en-IN" sz="1600" dirty="0"/>
              <a:t>In the updated deployment, we have containerized the application using Docker and deployed the container using Kubernetes.</a:t>
            </a:r>
          </a:p>
          <a:p>
            <a:pPr marL="0" indent="0">
              <a:buNone/>
            </a:pPr>
            <a:endParaRPr lang="en-IN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923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CCAF-072A-1228-0161-C9A341B8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Problem Definition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CEE9-C734-E1BD-FD0A-7F1127D86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Traditional paper-based voting suffers from several major issues:</a:t>
            </a:r>
          </a:p>
          <a:p>
            <a:r>
              <a:rPr lang="en-US" dirty="0"/>
              <a:t>Requires physical presence of voters</a:t>
            </a:r>
          </a:p>
          <a:p>
            <a:r>
              <a:rPr lang="en-US" dirty="0"/>
              <a:t>Long queues and time-consuming process</a:t>
            </a:r>
          </a:p>
          <a:p>
            <a:r>
              <a:rPr lang="en-US" dirty="0"/>
              <a:t>Manual counting leads to errors</a:t>
            </a:r>
          </a:p>
          <a:p>
            <a:r>
              <a:rPr lang="en-US" dirty="0"/>
              <a:t>Risk of data tampering or manipulation</a:t>
            </a:r>
          </a:p>
          <a:p>
            <a:r>
              <a:rPr lang="en-US" dirty="0"/>
              <a:t>High cost for printing and staff</a:t>
            </a:r>
          </a:p>
          <a:p>
            <a:r>
              <a:rPr lang="en-US" dirty="0"/>
              <a:t>Low accessibility for remote voters</a:t>
            </a:r>
          </a:p>
          <a:p>
            <a:r>
              <a:rPr lang="en-US" dirty="0"/>
              <a:t>To solve these challenges, a secure, cloud-based online voting system is needed that allows users to participate in elections digitally and safely.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21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A6508-B830-515D-B244-5CEB7517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 Achieved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02964-8500-B69D-5A9E-B61A11654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main objectives of the cloud-based online voting system are:</a:t>
            </a:r>
          </a:p>
          <a:p>
            <a:pPr lvl="0"/>
            <a:r>
              <a:rPr lang="en-IN" dirty="0"/>
              <a:t>Develop a secure online voting platform. </a:t>
            </a:r>
          </a:p>
          <a:p>
            <a:pPr lvl="0"/>
            <a:r>
              <a:rPr lang="en-IN" dirty="0"/>
              <a:t>Provide voter registration and authentication. </a:t>
            </a:r>
          </a:p>
          <a:p>
            <a:pPr lvl="0"/>
            <a:r>
              <a:rPr lang="en-IN" dirty="0"/>
              <a:t>Implement </a:t>
            </a:r>
            <a:r>
              <a:rPr lang="en-IN" b="1" dirty="0"/>
              <a:t>one-user-one-vote</a:t>
            </a:r>
            <a:r>
              <a:rPr lang="en-IN" dirty="0"/>
              <a:t> functionality. </a:t>
            </a:r>
          </a:p>
          <a:p>
            <a:pPr lvl="0"/>
            <a:r>
              <a:rPr lang="en-IN" dirty="0"/>
              <a:t>Generate election results automatically. </a:t>
            </a:r>
          </a:p>
          <a:p>
            <a:pPr lvl="0"/>
            <a:r>
              <a:rPr lang="en-IN" dirty="0"/>
              <a:t>Reduce manual counting. </a:t>
            </a:r>
          </a:p>
          <a:p>
            <a:pPr lvl="0"/>
            <a:r>
              <a:rPr lang="en-IN" dirty="0"/>
              <a:t>Deploy the application in a cloud environment. </a:t>
            </a:r>
          </a:p>
          <a:p>
            <a:pPr lvl="0"/>
            <a:r>
              <a:rPr lang="en-IN" dirty="0"/>
              <a:t>Containerize the application using Docker. </a:t>
            </a:r>
          </a:p>
          <a:p>
            <a:pPr lvl="0"/>
            <a:r>
              <a:rPr lang="en-IN" dirty="0"/>
              <a:t>Deploy the containerized application using Kubernetes.</a:t>
            </a:r>
          </a:p>
        </p:txBody>
      </p:sp>
    </p:spTree>
    <p:extLst>
      <p:ext uri="{BB962C8B-B14F-4D97-AF65-F5344CB8AC3E}">
        <p14:creationId xmlns:p14="http://schemas.microsoft.com/office/powerpoint/2010/main" val="339913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8FB2-B64C-C402-B341-9876130F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Scope of the Project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8254-776A-43A6-7E76-F9AA4FEDF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online voting system can be used in:</a:t>
            </a:r>
          </a:p>
          <a:p>
            <a:r>
              <a:rPr lang="en-US" dirty="0"/>
              <a:t>Colleges &amp; Universities</a:t>
            </a:r>
          </a:p>
          <a:p>
            <a:r>
              <a:rPr lang="en-US" dirty="0"/>
              <a:t>Schools</a:t>
            </a:r>
          </a:p>
          <a:p>
            <a:r>
              <a:rPr lang="en-US" dirty="0"/>
              <a:t>Clubs &amp; Communities</a:t>
            </a:r>
          </a:p>
          <a:p>
            <a:r>
              <a:rPr lang="en-US" dirty="0"/>
              <a:t>Classroom Elections</a:t>
            </a:r>
          </a:p>
          <a:p>
            <a:r>
              <a:rPr lang="en-US" dirty="0"/>
              <a:t>Organizations &amp; Committees</a:t>
            </a:r>
          </a:p>
        </p:txBody>
      </p:sp>
    </p:spTree>
    <p:extLst>
      <p:ext uri="{BB962C8B-B14F-4D97-AF65-F5344CB8AC3E}">
        <p14:creationId xmlns:p14="http://schemas.microsoft.com/office/powerpoint/2010/main" val="164119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3A80-9D9A-EFCC-261D-8AC16808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339D-3928-28B0-A6C4-BF53348E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Frontend: HTML, CSS, JavaScript    </a:t>
            </a:r>
          </a:p>
          <a:p>
            <a:r>
              <a:rPr lang="en-IN" dirty="0"/>
              <a:t>Backend: PHP</a:t>
            </a:r>
          </a:p>
          <a:p>
            <a:r>
              <a:rPr lang="en-IN" dirty="0"/>
              <a:t>Database: MySQL</a:t>
            </a:r>
          </a:p>
          <a:p>
            <a:r>
              <a:rPr lang="en-IN" dirty="0"/>
              <a:t>Cloud Platform: AWS EC2</a:t>
            </a:r>
          </a:p>
          <a:p>
            <a:r>
              <a:rPr lang="en-IN" dirty="0"/>
              <a:t>Version Control: Git/GitHub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IN" b="1" dirty="0"/>
              <a:t>Deployment technologies</a:t>
            </a:r>
          </a:p>
          <a:p>
            <a:r>
              <a:rPr lang="en-IN" b="1" dirty="0"/>
              <a:t>Containerization</a:t>
            </a:r>
            <a:endParaRPr lang="en-IN" dirty="0"/>
          </a:p>
          <a:p>
            <a:pPr lvl="0"/>
            <a:r>
              <a:rPr lang="en-IN" dirty="0"/>
              <a:t>Docker </a:t>
            </a:r>
          </a:p>
          <a:p>
            <a:r>
              <a:rPr lang="en-IN" b="1" dirty="0"/>
              <a:t>Container Registry</a:t>
            </a:r>
            <a:endParaRPr lang="en-IN" dirty="0"/>
          </a:p>
          <a:p>
            <a:pPr lvl="0"/>
            <a:r>
              <a:rPr lang="en-IN" dirty="0"/>
              <a:t>Docker Hub </a:t>
            </a:r>
          </a:p>
          <a:p>
            <a:r>
              <a:rPr lang="en-IN" b="1" dirty="0"/>
              <a:t>Container Orchestration</a:t>
            </a:r>
            <a:endParaRPr lang="en-IN" dirty="0"/>
          </a:p>
          <a:p>
            <a:pPr lvl="0"/>
            <a:r>
              <a:rPr lang="en-IN" dirty="0"/>
              <a:t>Kubernetes </a:t>
            </a:r>
          </a:p>
          <a:p>
            <a:r>
              <a:rPr lang="en-IN" b="1" dirty="0"/>
              <a:t>Kubernetes resources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38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BEB0-B077-95B3-5A92-DF4FFE56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95BF-3457-5EDA-024E-EBCC42A61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First, we developed the application using HTML, CSS, JavaScript, PHP and MySQL.</a:t>
            </a:r>
          </a:p>
          <a:p>
            <a:r>
              <a:rPr lang="en-IN" dirty="0"/>
              <a:t>We implemented voter registration and login functionality. We also created an admin dashboard for managing voters, candidates and elections.</a:t>
            </a:r>
          </a:p>
          <a:p>
            <a:r>
              <a:rPr lang="en-IN" dirty="0"/>
              <a:t>The voting module implements the one-user-one-vote rule.</a:t>
            </a:r>
          </a:p>
          <a:p>
            <a:r>
              <a:rPr lang="en-IN" dirty="0"/>
              <a:t>MySQL is used to store voter, candidate and voting information.</a:t>
            </a:r>
          </a:p>
          <a:p>
            <a:r>
              <a:rPr lang="en-IN" dirty="0"/>
              <a:t>After completing the application, we containerized the PHP application using Docker.</a:t>
            </a:r>
          </a:p>
          <a:p>
            <a:r>
              <a:rPr lang="en-IN" dirty="0"/>
              <a:t>We created a Docker image and pushed that image to Docker Hub.</a:t>
            </a:r>
          </a:p>
          <a:p>
            <a:r>
              <a:rPr lang="en-IN" dirty="0"/>
              <a:t>Kubernetes then uses that Docker image to create application Pods through a Kubernetes Deployment.</a:t>
            </a:r>
          </a:p>
          <a:p>
            <a:r>
              <a:rPr lang="en-IN" dirty="0"/>
              <a:t>Finally, we use a Kubernetes Service to provide network access to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2109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23F4-0153-70E0-D8B2-8AEE2A12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Testing and Validation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66B8-1BE4-284F-9D5B-879306F85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Conducted functional testing on all modules, including voter registration, login, candidate management, vote casting, and result generation.</a:t>
            </a:r>
          </a:p>
          <a:p>
            <a:r>
              <a:rPr lang="en-IN" dirty="0"/>
              <a:t>Verified secure user authentication to ensure only authorized users could access the system.</a:t>
            </a:r>
          </a:p>
          <a:p>
            <a:r>
              <a:rPr lang="en-IN" dirty="0"/>
              <a:t>Tested the one-user-one-vote mechanism to prevent duplicate voting.</a:t>
            </a:r>
          </a:p>
          <a:p>
            <a:r>
              <a:rPr lang="en-IN" dirty="0"/>
              <a:t>Validated database operations for accurate storage and retrieval of voter and candidate information.</a:t>
            </a:r>
            <a:endParaRPr lang="en-US" dirty="0"/>
          </a:p>
          <a:p>
            <a:r>
              <a:rPr lang="en-IN" dirty="0"/>
              <a:t>Successfully passed all test cases, confirming the system's functionality, security,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30771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8CBA-984A-BABA-C265-1E16D918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FINAL 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D0C0A-E817-D43B-0B86-1C4F55754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46827"/>
            <a:ext cx="8825659" cy="3416300"/>
          </a:xfrm>
        </p:spPr>
        <p:txBody>
          <a:bodyPr>
            <a:noAutofit/>
          </a:bodyPr>
          <a:lstStyle/>
          <a:p>
            <a:r>
              <a:rPr lang="en-IN" dirty="0"/>
              <a:t>Users can register and log in securely through the web application.</a:t>
            </a:r>
          </a:p>
          <a:p>
            <a:r>
              <a:rPr lang="en-IN" dirty="0"/>
              <a:t>Voters can cast their votes online from any location using an internet connection.</a:t>
            </a:r>
          </a:p>
          <a:p>
            <a:r>
              <a:rPr lang="en-IN" dirty="0"/>
              <a:t>The system successfully enforces the </a:t>
            </a:r>
            <a:r>
              <a:rPr lang="en-IN" b="1" dirty="0"/>
              <a:t>one-user-one-vote</a:t>
            </a:r>
            <a:r>
              <a:rPr lang="en-IN" dirty="0"/>
              <a:t> policy and prevents duplicate voting.</a:t>
            </a:r>
          </a:p>
          <a:p>
            <a:r>
              <a:rPr lang="en-IN" dirty="0"/>
              <a:t>Administrators can add, update, and manage candidates through the admin panel.</a:t>
            </a:r>
          </a:p>
          <a:p>
            <a:r>
              <a:rPr lang="en-IN" dirty="0"/>
              <a:t>Votes are securely stored in the MySQL database and processed accurately.</a:t>
            </a:r>
          </a:p>
          <a:p>
            <a:r>
              <a:rPr lang="en-IN" dirty="0"/>
              <a:t>Election results are generated automatically and displayed in real time.</a:t>
            </a:r>
          </a:p>
          <a:p>
            <a:r>
              <a:rPr lang="en-IN" dirty="0"/>
              <a:t>The system reduces manual effort, eliminates paper-based processes, and improves election transparency.</a:t>
            </a:r>
          </a:p>
        </p:txBody>
      </p:sp>
    </p:spTree>
    <p:extLst>
      <p:ext uri="{BB962C8B-B14F-4D97-AF65-F5344CB8AC3E}">
        <p14:creationId xmlns:p14="http://schemas.microsoft.com/office/powerpoint/2010/main" val="390495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1D21-846F-8A69-B232-A9464DE0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Admin Login Portal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0B715-7CC6-B2EF-CE8F-A9E2B20D3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958" y="2603500"/>
            <a:ext cx="7458396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0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CF9E-A74D-BF58-EEAD-5E66AF0A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User Login Portal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C53B6-CAC2-96FE-2178-38D700259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357" y="2603500"/>
            <a:ext cx="7509598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8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336F-8FE7-3E81-A8B6-88DFD25F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Voter Dashboard – Available Election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76E96B-F44C-4DF2-1916-B66402A3E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227" y="2603500"/>
            <a:ext cx="7515859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46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E498-03EF-9037-E3C1-C931B577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Admin Dashboard of Online Voting System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AC1BD-9305-331A-81C3-70855BE7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599" y="2603500"/>
            <a:ext cx="7475115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6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FFE4-3934-D4D4-C733-5F89CC9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7CB1-1A67-1D4C-07B0-0B8D92CEC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OTP-based login</a:t>
            </a:r>
          </a:p>
          <a:p>
            <a:r>
              <a:rPr lang="en-IN" dirty="0"/>
              <a:t>Biometric authentication</a:t>
            </a:r>
          </a:p>
          <a:p>
            <a:r>
              <a:rPr lang="en-IN" dirty="0"/>
              <a:t>Blockchain for vote security</a:t>
            </a:r>
          </a:p>
          <a:p>
            <a:r>
              <a:rPr lang="en-IN" dirty="0"/>
              <a:t>Mobile app version</a:t>
            </a:r>
          </a:p>
        </p:txBody>
      </p:sp>
    </p:spTree>
    <p:extLst>
      <p:ext uri="{BB962C8B-B14F-4D97-AF65-F5344CB8AC3E}">
        <p14:creationId xmlns:p14="http://schemas.microsoft.com/office/powerpoint/2010/main" val="165683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319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Kubernetes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B2DC"/>
                </a:solidFill>
                <a:latin typeface="Aptos"/>
              </a:defRPr>
            </a:pPr>
            <a:r>
              <a:t>Docker image from Docker Hub deployed as Pods inside the Kubernetes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508760" cy="731520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508760"/>
            <a:ext cx="1508760" cy="731520"/>
          </a:xfrm>
          <a:prstGeom prst="roundRect">
            <a:avLst/>
          </a:prstGeom>
          <a:solidFill>
            <a:srgbClr val="2611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08760"/>
            <a:ext cx="1600200" cy="731520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508760"/>
            <a:ext cx="1600200" cy="731520"/>
          </a:xfrm>
          <a:prstGeom prst="roundRect">
            <a:avLst/>
          </a:prstGeom>
          <a:solidFill>
            <a:srgbClr val="26114C"/>
          </a:solidFill>
          <a:ln>
            <a:solidFill>
              <a:srgbClr val="43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Docker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1828800" cy="731520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Kubernetes</a:t>
            </a:r>
            <a:br/>
            <a:r>
              <a:t>Cluster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1874519"/>
            <a:ext cx="32004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79" y="1874519"/>
            <a:ext cx="320041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60720" y="1874519"/>
            <a:ext cx="32004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1874519"/>
            <a:ext cx="36576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154680"/>
            <a:ext cx="2011680" cy="777240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154680"/>
            <a:ext cx="2011680" cy="777240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Pod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154680"/>
            <a:ext cx="2011680" cy="777240"/>
          </a:xfrm>
          <a:prstGeom prst="roundRect">
            <a:avLst/>
          </a:prstGeom>
          <a:solidFill>
            <a:srgbClr val="26114C"/>
          </a:solidFill>
          <a:ln>
            <a:solidFill>
              <a:srgbClr val="43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154680"/>
            <a:ext cx="2011680" cy="777240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3538728"/>
            <a:ext cx="54864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0" y="3538728"/>
            <a:ext cx="54864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20" y="3538728"/>
            <a:ext cx="548640" cy="0"/>
          </a:xfrm>
          <a:prstGeom prst="line">
            <a:avLst/>
          </a:prstGeom>
          <a:ln w="25400">
            <a:solidFill>
              <a:srgbClr val="BEB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4434840"/>
            <a:ext cx="2926080" cy="1234440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55371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37759"/>
            <a:ext cx="2606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EBE5FA"/>
                </a:solidFill>
                <a:latin typeface="Aptos"/>
              </a:defRPr>
            </a:pPr>
            <a:r>
              <a:t>Maintains desired Pod state and manages application updates.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434840"/>
            <a:ext cx="2926080" cy="1234440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455371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Pods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937759"/>
            <a:ext cx="2606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EBE5FA"/>
                </a:solidFill>
                <a:latin typeface="Aptos"/>
              </a:defRPr>
            </a:pPr>
            <a:r>
              <a:t>Run the containerized PHP application using the Docker image.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434840"/>
            <a:ext cx="2926080" cy="1234440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54112" y="455371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4937759"/>
            <a:ext cx="26060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EBE5FA"/>
                </a:solidFill>
                <a:latin typeface="Aptos"/>
              </a:defRPr>
            </a:pPr>
            <a:r>
              <a:t>Provides stable access to Pods and forwards requests to available Pods.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2DC"/>
                </a:solidFill>
                <a:latin typeface="Aptos"/>
              </a:defRPr>
            </a:pPr>
            <a:r>
              <a:t>VoteSecure • Kubernetes Deployment •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565F91-D9A3-235E-365E-1008A962F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43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Kubernetes Components Used for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Production-grade multi-tier architecture deployed in 'votesecure' namespace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Namespace: votesecure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Dedicated Kubernetes namespace providing isolation, RBAC security, resource quotas, and clean workload separation.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ConfigMap &amp; Secret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Decouples configuration (DB_HOST, DB_NAME) and encrypted credentials (DB_USER, DB_PASSWORD) from application container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MySQL 8.0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Containerized database instance with PersistentVolumeClaim storage, automated schema initialization, and isolated storage volume.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43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68503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ClusterIP Service (3306)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Provides secure internal DNS endpoint (mysql-service:3306) allowing application pods to query the database with zero internet exposure.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68503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 Deployment (2 Replicas)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Runs PHP 8.2 + Apache application pods with zero-downtime rolling update (maxSurge: 1) and continuous /health.php readiness probes.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429000" cy="1874519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368503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LoadBalancer Service (80)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Provisions an AWS Elastic Load Balancer (ELB) mapping public HTTP traffic on Port 80 directly to healthy container pods across AZs.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VoteSecure • Kubernetes Architecture •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Kubernetes Deployment &amp; Orchestration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Production rollout lifecycle from containerization to live traffic routing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530352" cy="530352"/>
          </a:xfrm>
          <a:prstGeom prst="ellipse">
            <a:avLst/>
          </a:prstGeom>
          <a:solidFill>
            <a:srgbClr val="4E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990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Container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0136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Multi-stage Docker build packages PHP 8.2 &amp; Apache with production-grade security flags and Apache configs.</a:t>
            </a:r>
          </a:p>
        </p:txBody>
      </p:sp>
      <p:sp>
        <p:nvSpPr>
          <p:cNvPr id="7" name="Oval 6"/>
          <p:cNvSpPr/>
          <p:nvPr/>
        </p:nvSpPr>
        <p:spPr>
          <a:xfrm>
            <a:off x="4480560" y="1417320"/>
            <a:ext cx="530352" cy="530352"/>
          </a:xfrm>
          <a:prstGeom prst="ellipse">
            <a:avLst/>
          </a:prstGeom>
          <a:solidFill>
            <a:srgbClr val="43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3990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Registry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0136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Semantic image tagging and push to Docker Hub repository (vaibhavmungal/votesecure-app).</a:t>
            </a:r>
          </a:p>
        </p:txBody>
      </p:sp>
      <p:sp>
        <p:nvSpPr>
          <p:cNvPr id="10" name="Oval 9"/>
          <p:cNvSpPr/>
          <p:nvPr/>
        </p:nvSpPr>
        <p:spPr>
          <a:xfrm>
            <a:off x="8321040" y="1417320"/>
            <a:ext cx="530352" cy="530352"/>
          </a:xfrm>
          <a:prstGeom prst="ellipse">
            <a:avLst/>
          </a:prstGeom>
          <a:solidFill>
            <a:srgbClr val="97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39903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EKS Cluster 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80136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Authenticate kubectl securely with AWS CLI using: aws eks update-kubeconfig --name votesecure-cluster.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29000"/>
            <a:ext cx="530352" cy="530352"/>
          </a:xfrm>
          <a:prstGeom prst="ellipse">
            <a:avLst/>
          </a:prstGeom>
          <a:solidFill>
            <a:srgbClr val="4E9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107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Declarative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1304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Apply manifest: kubectl apply -f k8s/votesecure.yaml across Namespace, Secrets, ConfigMap, DB &amp; App.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0" y="3429000"/>
            <a:ext cx="530352" cy="530352"/>
          </a:xfrm>
          <a:prstGeom prst="ellipse">
            <a:avLst/>
          </a:prstGeom>
          <a:solidFill>
            <a:srgbClr val="F59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107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Zero-Downtime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81304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Kubernetes handles rolling update (maxSurge: 1, maxUnavailable: 0) ensuring zero vote loss during updates.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429000"/>
            <a:ext cx="530352" cy="530352"/>
          </a:xfrm>
          <a:prstGeom prst="ellipse">
            <a:avLst/>
          </a:prstGeom>
          <a:solidFill>
            <a:srgbClr val="43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41071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Health Probe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813048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Automated readiness probe checks /health.php; AWS ELB routes traffic only to validated healthy pods.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VoteSecure • Kubernetes Deployment •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0401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Comprehensive full-stack application, cloud infrastructure, and DevSecOps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HTML5 • CSS3 • JavaScript</a:t>
            </a:r>
          </a:p>
          <a:p>
            <a:r>
              <a:t>PHP 8.2 • Apache Web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MySQL 8.0 Relational DB</a:t>
            </a:r>
          </a:p>
          <a:p>
            <a:r>
              <a:t>PersistentVolumeClaim (PVC)</a:t>
            </a:r>
          </a:p>
          <a:p>
            <a:r>
              <a:t>Decoupled Secrets &amp; ConfigMap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43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44475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AWS Cloud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2880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Amazon EKS • AWS ELB</a:t>
            </a:r>
          </a:p>
          <a:p>
            <a:r>
              <a:t>VPC • Public/Private Subnets</a:t>
            </a:r>
          </a:p>
          <a:p>
            <a:r>
              <a:t>Internet Gateway • NAT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1821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Container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56616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Docker • Docker Hub</a:t>
            </a:r>
          </a:p>
          <a:p>
            <a:r>
              <a:t>Kubernetes (K8s) Manifests</a:t>
            </a:r>
          </a:p>
          <a:p>
            <a:r>
              <a:t>Namespace: votesecure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06324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1821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CI/CD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6616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Jenkins Declarative Pipeline</a:t>
            </a:r>
          </a:p>
          <a:p>
            <a:r>
              <a:t>Trivy Vulnerability Scanner</a:t>
            </a:r>
          </a:p>
          <a:p>
            <a:r>
              <a:t>Git • GitHub Webhooks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63240"/>
            <a:ext cx="3429000" cy="1417320"/>
          </a:xfrm>
          <a:prstGeom prst="roundRect">
            <a:avLst/>
          </a:prstGeom>
          <a:solidFill>
            <a:srgbClr val="26114C"/>
          </a:solidFill>
          <a:ln>
            <a:solidFill>
              <a:srgbClr val="F59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31821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IaC &amp;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6616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Terraform Modules (VPC, EKS)</a:t>
            </a:r>
          </a:p>
          <a:p>
            <a:r>
              <a:t>kubectl CLI • AWS CLI</a:t>
            </a:r>
          </a:p>
          <a:p>
            <a:r>
              <a:t>Health Check Probes (/health.php)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4800600"/>
            <a:ext cx="7178040" cy="868680"/>
          </a:xfrm>
          <a:prstGeom prst="roundRect">
            <a:avLst/>
          </a:prstGeom>
          <a:solidFill>
            <a:srgbClr val="26114C"/>
          </a:solidFill>
          <a:ln>
            <a:solidFill>
              <a:srgbClr val="97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79192" y="4919472"/>
            <a:ext cx="6858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Automated DevSecOps Delivery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5303520"/>
            <a:ext cx="6858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Code → Jenkins CI/CD → Trivy Scan → Docker Hub → Amazon EKS → AWS ELB (Port 80) → Voters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VoteSecure • Technologies Used •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CBCE-1866-D33F-A8BE-4D57433D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Project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29A03-C92B-1CFA-3130-6E1257AE5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Successfully deployed the VoteSecure voting platform on AWS using Amazon EKS container orchestration.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Implemented an automated Jenkins CI/CD pipeline reducing deployment lifecycle to minutes with zero manual errors.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Integrated DevSecOps with automated Trivy vulnerability scanning, enforcing a strict zero-critical-CVE policy.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Completely eliminated port collisions through strict port governance (Port 80 Production, 8080 Jenkins, 8085 Local).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Achieved zero-downtime rolling updates (maxSurge: 1, maxUnavailable: 0) and self-healing with /health.php probes.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Secured database tier with MySQL 8.0 isolated in private network with internal ClusterIP DNS resolution.</a:t>
            </a:r>
          </a:p>
        </p:txBody>
      </p:sp>
    </p:spTree>
    <p:extLst>
      <p:ext uri="{BB962C8B-B14F-4D97-AF65-F5344CB8AC3E}">
        <p14:creationId xmlns:p14="http://schemas.microsoft.com/office/powerpoint/2010/main" val="521130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6316-4332-E2D9-220D-2719A112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1E2A-4010-0CDA-BF1D-03DED1911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Developed a secure, cloud-based Online Voting System with voter authentication, candidate management, one-user-one-vote enforcement, and automated real-time tallying.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Modernized the architecture from a monolithic server setup into an enterprise-grade containerized microservices ecosystem running on Amazon Elastic Kubernetes Service (EKS).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Automated the software delivery lifecycle using a declarative Jenkins CI/CD pipeline, incorporating Trivy container security scans and automated Docker Hub distribution.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Solved real-world DevOps challenges including database persistence, network port conflicts, credential separation via Kubernetes Secrets, and zero-downtime rolling releases.</a:t>
            </a:r>
          </a:p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The project successfully demonstrates end-to-end cloud engineering, DevSecOps automation, and high-availability application hosting on Amazon Web Services.</a:t>
            </a:r>
          </a:p>
        </p:txBody>
      </p:sp>
    </p:spTree>
    <p:extLst>
      <p:ext uri="{BB962C8B-B14F-4D97-AF65-F5344CB8AC3E}">
        <p14:creationId xmlns:p14="http://schemas.microsoft.com/office/powerpoint/2010/main" val="260292803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Jenkins CI/CD &amp; DevSecOps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B2DC"/>
                </a:solidFill>
                <a:latin typeface="Aptos"/>
              </a:defRPr>
            </a:pPr>
            <a:r>
              <a:t>End-to-end continuous integration, vulnerability scanning, and automated delivery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1: SCM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Polls GitHub repository every 60s; triggers declarative pipeline immediately upon commit to main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2: Syntax Linting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Automated pre-flight syntax validation (php -l) verifies code integrity before building, preventing broken deployments.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3: Docker Build &amp;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Builds production container image and applies unique semantic tags using Jenkins ${BUILD_NUMBER} for complete traceability.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4: DevSecOps Trivy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Trivy scanner checks container filesystem for CVEs, generating audit reports and failing build on CRITICAL severity.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5: Secure Hub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Pushes scanned, verified container image to Docker Hub repository (vaibhavmungal/votesecure-app) via Jenkins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Stage 6: Zero-Downtime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Executes zero-downtime rolling update on Amazon EKS cluster and validates deployment using /health.php smoke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2DC"/>
                </a:solidFill>
                <a:latin typeface="Aptos"/>
              </a:defRPr>
            </a:pPr>
            <a:r>
              <a:t>VoteSecure • DevOps &amp; CI/CD Pipeline •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Network Architecture &amp; Port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B2DC"/>
                </a:solidFill>
                <a:latin typeface="Aptos"/>
              </a:defRPr>
            </a:pPr>
            <a:r>
              <a:t>Enterprise network segregation, security groups, and zero-conflict allocation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 80 (Production HTTP)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AWS Elastic Load Balancer (ELB) receives public voter traffic and routes to healthy Kubernetes App Pods across AZs.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 8080 (Dedicated Jenkins)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Dedicated strictly to Jenkins CI/CD automation server; eliminates port collisions with application web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4447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 8085 (Docker Compose)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1" y="182880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Isolated local development port mapping host 8085 -&gt; container 80 for seamless local multi-tier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Port 3306 (MySQL Database)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Bound strictly to internal cluster network (mysql-service:3306); completely blocked from external public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AWS Security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SG-EKS permits HTTP/HTTPS inbound from internet; SG-RDS restricts MySQL ingress strictly to SG-EKS nodes.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429000" cy="1874519"/>
          </a:xfrm>
          <a:prstGeom prst="roundRect">
            <a:avLst/>
          </a:prstGeom>
          <a:solidFill>
            <a:srgbClr val="26114C"/>
          </a:solidFill>
          <a:ln w="19050">
            <a:solidFill>
              <a:srgbClr val="4E9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3685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Health Probe Endpoint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4069080"/>
            <a:ext cx="310896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BE5FA"/>
                </a:solidFill>
                <a:latin typeface="Aptos"/>
              </a:defRPr>
            </a:pPr>
            <a:r>
              <a:t>Dedicated /health.php endpoint returning JSON status for automated Kubernetes liveness/readiness self-healing.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2DC"/>
                </a:solidFill>
                <a:latin typeface="Aptos"/>
              </a:defRPr>
            </a:pPr>
            <a:r>
              <a:t>VoteSecure • Network &amp; Security • 24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1574</TotalTime>
  <Words>1118</Words>
  <Application>Microsoft Office PowerPoint</Application>
  <PresentationFormat>Widescreen</PresentationFormat>
  <Paragraphs>177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Century Gothic</vt:lpstr>
      <vt:lpstr>Century Gothic (Body)</vt:lpstr>
      <vt:lpstr>Times New Roman</vt:lpstr>
      <vt:lpstr>Wingdings 3</vt:lpstr>
      <vt:lpstr>Ion Boardroom</vt:lpstr>
      <vt:lpstr>Cloud-Based Online Voting System Using AWS &amp; DevOps </vt:lpstr>
      <vt:lpstr>Introduction</vt:lpstr>
      <vt:lpstr>Problem Definition</vt:lpstr>
      <vt:lpstr>Objectives Achieved</vt:lpstr>
      <vt:lpstr>Scope of the Project</vt:lpstr>
      <vt:lpstr>Technologies Used</vt:lpstr>
      <vt:lpstr>Implementation</vt:lpstr>
      <vt:lpstr>Testing and Validation</vt:lpstr>
      <vt:lpstr>FINAL OUTPUT</vt:lpstr>
      <vt:lpstr>Admin Login Portal</vt:lpstr>
      <vt:lpstr>User Login Portal</vt:lpstr>
      <vt:lpstr>Voter Dashboard – Available Election</vt:lpstr>
      <vt:lpstr>Admin Dashboard of Online Voting System</vt:lpstr>
      <vt:lpstr>Future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Achieved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varad bhosale</dc:creator>
  <cp:lastModifiedBy>Vaibhav Mungal</cp:lastModifiedBy>
  <cp:revision>9</cp:revision>
  <dcterms:created xsi:type="dcterms:W3CDTF">2025-12-07T12:31:51Z</dcterms:created>
  <dcterms:modified xsi:type="dcterms:W3CDTF">2026-09-23T05:00:44Z</dcterms:modified>
</cp:coreProperties>
</file>