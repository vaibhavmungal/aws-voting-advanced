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10" r:id="rId1"/>
  </p:sldMasterIdLst>
  <p:sldIdLst>
    <p:sldId id="256" r:id="rId2"/>
    <p:sldId id="259" r:id="rId3"/>
    <p:sldId id="262" r:id="rId4"/>
    <p:sldId id="263" r:id="rId5"/>
    <p:sldId id="264" r:id="rId6"/>
    <p:sldId id="265" r:id="rId7"/>
    <p:sldId id="266" r:id="rId8"/>
    <p:sldId id="270" r:id="rId9"/>
    <p:sldId id="273" r:id="rId10"/>
    <p:sldId id="275" r:id="rId11"/>
    <p:sldId id="276" r:id="rId12"/>
    <p:sldId id="277" r:id="rId13"/>
    <p:sldId id="278" r:id="rId14"/>
    <p:sldId id="271" r:id="rId15"/>
    <p:sldId id="280" r:id="rId16"/>
    <p:sldId id="284" r:id="rId17"/>
    <p:sldId id="281" r:id="rId18"/>
    <p:sldId id="282" r:id="rId19"/>
    <p:sldId id="283" r:id="rId20"/>
    <p:sldId id="274" r:id="rId21"/>
    <p:sldId id="272"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204" autoAdjust="0"/>
    <p:restoredTop sz="94660"/>
  </p:normalViewPr>
  <p:slideViewPr>
    <p:cSldViewPr snapToGrid="0">
      <p:cViewPr varScale="1">
        <p:scale>
          <a:sx n="78" d="100"/>
          <a:sy n="78" d="100"/>
        </p:scale>
        <p:origin x="869"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9" name="Rectangle 8"/>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10"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txBody>
            <a:bodyPr/>
            <a:lstStyle/>
            <a:p>
              <a:endParaRPr lang="en-IN"/>
            </a:p>
          </p:txBody>
        </p:sp>
      </p:grpSp>
      <p:sp>
        <p:nvSpPr>
          <p:cNvPr id="2" name="Title 1"/>
          <p:cNvSpPr>
            <a:spLocks noGrp="1"/>
          </p:cNvSpPr>
          <p:nvPr>
            <p:ph type="ctrTitle"/>
          </p:nvPr>
        </p:nvSpPr>
        <p:spPr>
          <a:xfrm>
            <a:off x="1154955" y="2099733"/>
            <a:ext cx="8825658" cy="2677648"/>
          </a:xfrm>
        </p:spPr>
        <p:txBody>
          <a:bodyPr anchor="b"/>
          <a:lstStyle>
            <a:lvl1pPr>
              <a:defRPr sz="5400"/>
            </a:lvl1pPr>
          </a:lstStyle>
          <a:p>
            <a:r>
              <a:rPr lang="en-US"/>
              <a:t>Click to edit Master title style</a:t>
            </a:r>
            <a:endParaRPr lang="en-US" dirty="0"/>
          </a:p>
        </p:txBody>
      </p:sp>
      <p:sp>
        <p:nvSpPr>
          <p:cNvPr id="3" name="Subtitle 2"/>
          <p:cNvSpPr>
            <a:spLocks noGrp="1"/>
          </p:cNvSpPr>
          <p:nvPr>
            <p:ph type="subTitle" idx="1"/>
          </p:nvPr>
        </p:nvSpPr>
        <p:spPr bwMode="gray">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bwMode="gray">
          <a:xfrm rot="5400000">
            <a:off x="10158984" y="1792224"/>
            <a:ext cx="990599" cy="304799"/>
          </a:xfrm>
        </p:spPr>
        <p:txBody>
          <a:bodyPr anchor="t"/>
          <a:lstStyle>
            <a:lvl1pPr algn="l">
              <a:defRPr b="0" i="0">
                <a:solidFill>
                  <a:schemeClr val="bg1">
                    <a:alpha val="60000"/>
                  </a:schemeClr>
                </a:solidFill>
              </a:defRPr>
            </a:lvl1pPr>
          </a:lstStyle>
          <a:p>
            <a:fld id="{5923F103-BC34-4FE4-A40E-EDDEECFDA5D0}" type="datetimeFigureOut">
              <a:rPr lang="en-US" smtClean="0"/>
              <a:pPr/>
              <a:t>9/23/2026</a:t>
            </a:fld>
            <a:endParaRPr lang="en-US" dirty="0"/>
          </a:p>
        </p:txBody>
      </p:sp>
      <p:sp>
        <p:nvSpPr>
          <p:cNvPr id="5" name="Footer Placeholder 4"/>
          <p:cNvSpPr>
            <a:spLocks noGrp="1"/>
          </p:cNvSpPr>
          <p:nvPr>
            <p:ph type="ftr" sz="quarter" idx="11"/>
          </p:nvPr>
        </p:nvSpPr>
        <p:spPr bwMode="gray">
          <a:xfrm rot="5400000">
            <a:off x="8951976" y="3227832"/>
            <a:ext cx="3859795" cy="304801"/>
          </a:xfrm>
        </p:spPr>
        <p:txBody>
          <a:bodyPr/>
          <a:lstStyle>
            <a:lvl1pPr>
              <a:defRPr b="0" i="0">
                <a:solidFill>
                  <a:schemeClr val="bg1">
                    <a:alpha val="60000"/>
                  </a:schemeClr>
                </a:solidFill>
              </a:defRPr>
            </a:lvl1pPr>
          </a:lstStyle>
          <a:p>
            <a:endParaRPr lang="en-US" dirty="0"/>
          </a:p>
        </p:txBody>
      </p:sp>
      <p:sp>
        <p:nvSpPr>
          <p:cNvPr id="11" name="Rectangle 1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2" name="Slide Number Placeholder 5"/>
          <p:cNvSpPr>
            <a:spLocks noGrp="1"/>
          </p:cNvSpPr>
          <p:nvPr>
            <p:ph type="sldNum" sz="quarter" idx="12"/>
          </p:nvPr>
        </p:nvSpPr>
        <p:spPr>
          <a:xfrm>
            <a:off x="10352540" y="295729"/>
            <a:ext cx="838199" cy="767687"/>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669793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1154954" y="2603500"/>
            <a:ext cx="8825659" cy="34163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9C9CA7B-DFD4-44B5-8C60-D14B8CD1FB59}" type="datetimeFigureOut">
              <a:rPr lang="en-US" smtClean="0"/>
              <a:t>9/23/2026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24978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bwMode="gray">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677645"/>
            <a:ext cx="4351025" cy="2283824"/>
          </a:xfrm>
        </p:spPr>
        <p:txBody>
          <a:bodyPr anchor="ctr"/>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895559" y="2677644"/>
            <a:ext cx="3757545" cy="228382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34E6425-0181-43F2-84FC-787E803FD2F8}" type="datetimeFigureOut">
              <a:rPr lang="en-US" smtClean="0"/>
              <a:t>9/23/2026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629656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54954" y="2603500"/>
            <a:ext cx="4825158" cy="34163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8712" y="2603500"/>
            <a:ext cx="4825159" cy="34163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BDB8791-F1B0-41E7-B7FD-A781E65C4266}" type="datetimeFigureOut">
              <a:rPr lang="en-US" smtClean="0"/>
              <a:t>9/23/2026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167746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54954" y="3179762"/>
            <a:ext cx="4825158" cy="2840039"/>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08712" y="3179762"/>
            <a:ext cx="4825159" cy="2840039"/>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FDD63B2-E120-4ED8-B27B-C685F510A5FE}" type="datetimeFigureOut">
              <a:rPr lang="en-US" smtClean="0"/>
              <a:t>9/23/2026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0345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Title 1"/>
          <p:cNvSpPr>
            <a:spLocks noGrp="1"/>
          </p:cNvSpPr>
          <p:nvPr>
            <p:ph type="title"/>
          </p:nvPr>
        </p:nvSpPr>
        <p:spPr>
          <a:xfrm>
            <a:off x="1154954" y="973668"/>
            <a:ext cx="8761413" cy="706964"/>
          </a:xfrm>
        </p:spPr>
        <p:txBody>
          <a:bodyPr/>
          <a:lstStyle>
            <a:lvl1pPr>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AA18ACC-A947-437B-A130-35BD54FDF1E9}" type="datetimeFigureOut">
              <a:rPr lang="en-US" smtClean="0"/>
              <a:t>9/23/2026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59857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C8D7E02-BCB8-4D50-A234-369438C08659}" type="datetimeFigureOut">
              <a:rPr lang="en-US" smtClean="0"/>
              <a:t>9/23/2026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7"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991629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8"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295400"/>
            <a:ext cx="2793158" cy="16002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5781146" y="1447800"/>
            <a:ext cx="5190066" cy="45720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bwMode="gray">
          <a:xfrm>
            <a:off x="1154954" y="3129280"/>
            <a:ext cx="2793158" cy="2895599"/>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6E86A4C-8E40-4F87-A4F0-01A0687C5742}" type="datetimeFigureOut">
              <a:rPr lang="en-US" smtClean="0"/>
              <a:t>9/23/2026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19307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693333"/>
            <a:ext cx="3865134" cy="1735667"/>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marL="0" lvl="0" indent="0" algn="ctr">
              <a:buNone/>
            </a:pPr>
            <a:r>
              <a:rPr lang="en-US"/>
              <a:t>Click icon to add picture</a:t>
            </a:r>
            <a:endParaRPr lang="en-US" dirty="0"/>
          </a:p>
        </p:txBody>
      </p:sp>
      <p:sp>
        <p:nvSpPr>
          <p:cNvPr id="4" name="Text Placeholder 3"/>
          <p:cNvSpPr>
            <a:spLocks noGrp="1"/>
          </p:cNvSpPr>
          <p:nvPr>
            <p:ph type="body" sz="half" idx="2"/>
          </p:nvPr>
        </p:nvSpPr>
        <p:spPr bwMode="gray">
          <a:xfrm>
            <a:off x="1154954" y="3657600"/>
            <a:ext cx="3859212" cy="13716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5E72C73-2D91-4E12-BA25-F0AA0C03599B}" type="datetimeFigureOut">
              <a:rPr lang="en-US" smtClean="0"/>
              <a:t>9/23/2026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06482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3" name="Rectangle 12"/>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1"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4969927"/>
            <a:ext cx="8825659"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4" y="685800"/>
            <a:ext cx="8825659"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5536665"/>
            <a:ext cx="8825658"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3A1CC3-2375-41D4-9E03-427CAF2A4C1A}" type="datetimeFigureOut">
              <a:rPr lang="en-US" smtClean="0"/>
              <a:t>9/23/2026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830371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48798" y="1063417"/>
            <a:ext cx="8831816" cy="1372986"/>
          </a:xfrm>
        </p:spPr>
        <p:txBody>
          <a:bodyPr/>
          <a:lstStyle>
            <a:lvl1pPr>
              <a:defRPr sz="4000"/>
            </a:lvl1pPr>
          </a:lstStyle>
          <a:p>
            <a:r>
              <a:rPr lang="en-US"/>
              <a:t>Click to edit Master title style</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AFF16868-8199-4C2C-A5B1-63AEE139F88E}" type="datetimeFigureOut">
              <a:rPr lang="en-US" smtClean="0"/>
              <a:t>9/23/2026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0703236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grpSp>
        <p:nvGrpSpPr>
          <p:cNvPr id="3" name="Group 2"/>
          <p:cNvGrpSpPr/>
          <p:nvPr/>
        </p:nvGrpSpPr>
        <p:grpSpPr>
          <a:xfrm>
            <a:off x="0" y="0"/>
            <a:ext cx="12192000" cy="6858000"/>
            <a:chOff x="0" y="0"/>
            <a:chExt cx="12192000" cy="6858000"/>
          </a:xfrm>
        </p:grpSpPr>
        <p:sp>
          <p:nvSpPr>
            <p:cNvPr id="17" name="Rectangle 16"/>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Oval 19"/>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Oval 24"/>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8"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6" name="TextBox 15"/>
          <p:cNvSpPr txBox="1"/>
          <p:nvPr/>
        </p:nvSpPr>
        <p:spPr bwMode="gray">
          <a:xfrm>
            <a:off x="881566" y="607336"/>
            <a:ext cx="801912"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3" name="TextBox 12"/>
          <p:cNvSpPr txBox="1"/>
          <p:nvPr/>
        </p:nvSpPr>
        <p:spPr bwMode="gray">
          <a:xfrm>
            <a:off x="9884458" y="2613787"/>
            <a:ext cx="652763"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2" name="Title 1"/>
          <p:cNvSpPr>
            <a:spLocks noGrp="1"/>
          </p:cNvSpPr>
          <p:nvPr>
            <p:ph type="title"/>
          </p:nvPr>
        </p:nvSpPr>
        <p:spPr>
          <a:xfrm>
            <a:off x="1581878" y="982134"/>
            <a:ext cx="8453906" cy="2696632"/>
          </a:xfrm>
        </p:spPr>
        <p:txBody>
          <a:bodyPr/>
          <a:lstStyle>
            <a:lvl1pPr>
              <a:defRPr sz="4000"/>
            </a:lvl1pPr>
          </a:lstStyle>
          <a:p>
            <a:r>
              <a:rPr lang="en-US"/>
              <a:t>Click to edit Master title style</a:t>
            </a:r>
            <a:endParaRPr lang="en-US" dirty="0"/>
          </a:p>
        </p:txBody>
      </p:sp>
      <p:sp>
        <p:nvSpPr>
          <p:cNvPr id="14" name="Text Placeholder 3"/>
          <p:cNvSpPr>
            <a:spLocks noGrp="1"/>
          </p:cNvSpPr>
          <p:nvPr>
            <p:ph type="body" sz="half" idx="13"/>
          </p:nvPr>
        </p:nvSpPr>
        <p:spPr bwMode="gray">
          <a:xfrm>
            <a:off x="1945945" y="3678766"/>
            <a:ext cx="7731219" cy="342174"/>
          </a:xfrm>
        </p:spPr>
        <p:txBody>
          <a:bodyPr anchor="t">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Text Placeholder 3"/>
          <p:cNvSpPr>
            <a:spLocks noGrp="1"/>
          </p:cNvSpPr>
          <p:nvPr>
            <p:ph type="body" sz="half" idx="2"/>
          </p:nvPr>
        </p:nvSpPr>
        <p:spPr>
          <a:xfrm>
            <a:off x="1154954" y="5029199"/>
            <a:ext cx="9244897" cy="997857"/>
          </a:xfrm>
        </p:spPr>
        <p:txBody>
          <a:bodyPr anchor="ct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2BE451C3-0FF4-47C4-B829-773ADF60F88C}" type="datetimeFigureOut">
              <a:rPr lang="en-US" smtClean="0"/>
              <a:t>9/23/2026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9" name="Rectangle 18"/>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017062354"/>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370667"/>
            <a:ext cx="8825660" cy="1822514"/>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5024967"/>
            <a:ext cx="8825659"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C12C299-16B2-4475-990D-751901EACC14}" type="datetimeFigureOut">
              <a:rPr lang="en-US" smtClean="0"/>
              <a:t>9/23/2026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686839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54954" y="2603502"/>
            <a:ext cx="314187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1154953" y="3179764"/>
            <a:ext cx="314187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4512721" y="2603500"/>
            <a:ext cx="314700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4512721" y="3179763"/>
            <a:ext cx="314700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888135" y="2603501"/>
            <a:ext cx="3145730"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888329" y="3179762"/>
            <a:ext cx="3145536"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440397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77240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9FE86839-B9D8-4651-8783-F325ECE74E65}" type="datetimeFigureOut">
              <a:rPr lang="en-US" smtClean="0"/>
              <a:t>9/23/2026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9708277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54954" y="4532844"/>
            <a:ext cx="30504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Picture Placeholder 2"/>
          <p:cNvSpPr>
            <a:spLocks noGrp="1" noChangeAspect="1"/>
          </p:cNvSpPr>
          <p:nvPr>
            <p:ph type="pic" idx="15"/>
          </p:nvPr>
        </p:nvSpPr>
        <p:spPr>
          <a:xfrm>
            <a:off x="1334553"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1154954" y="5109106"/>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4568865" y="4532844"/>
            <a:ext cx="3050438" cy="576263"/>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1" name="Picture Placeholder 2"/>
          <p:cNvSpPr>
            <a:spLocks noGrp="1" noChangeAspect="1"/>
          </p:cNvSpPr>
          <p:nvPr>
            <p:ph type="pic" idx="21"/>
          </p:nvPr>
        </p:nvSpPr>
        <p:spPr>
          <a:xfrm>
            <a:off x="4748462" y="2603500"/>
            <a:ext cx="2691243"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4570172" y="5109105"/>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982775" y="4532845"/>
            <a:ext cx="3051095"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2"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982775" y="5109104"/>
            <a:ext cx="3051096"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43" name="Straight Connector 42"/>
          <p:cNvCxnSpPr/>
          <p:nvPr/>
        </p:nvCxnSpPr>
        <p:spPr>
          <a:xfrm>
            <a:off x="440583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p:cNvCxnSpPr/>
          <p:nvPr/>
        </p:nvCxnSpPr>
        <p:spPr>
          <a:xfrm>
            <a:off x="7797802"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FD484F64-32F6-45C5-931F-ADC1662401D0}" type="datetimeFigureOut">
              <a:rPr lang="en-US" smtClean="0"/>
              <a:t>9/23/2026</a:t>
            </a:fld>
            <a:endParaRPr lang="en-US" dirty="0"/>
          </a:p>
        </p:txBody>
      </p:sp>
      <p:sp>
        <p:nvSpPr>
          <p:cNvPr id="8" name="Footer Placeholder 7"/>
          <p:cNvSpPr>
            <a:spLocks noGrp="1"/>
          </p:cNvSpPr>
          <p:nvPr>
            <p:ph type="ftr" sz="quarter" idx="11"/>
          </p:nvPr>
        </p:nvSpPr>
        <p:spPr>
          <a:xfrm>
            <a:off x="561111" y="6391838"/>
            <a:ext cx="3644282" cy="304801"/>
          </a:xfrm>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5014148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154954" y="2603500"/>
            <a:ext cx="8825659" cy="3416300"/>
          </a:xfrm>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0695439" y="6391838"/>
            <a:ext cx="990599" cy="304799"/>
          </a:xfrm>
        </p:spPr>
        <p:txBody>
          <a:bodyPr/>
          <a:lstStyle/>
          <a:p>
            <a:fld id="{53086D93-FCAC-47E0-A2EE-787E62CA814C}" type="datetimeFigureOut">
              <a:rPr lang="en-US" smtClean="0"/>
              <a:t>9/23/2026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5167912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2" name="Rectangle 11"/>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Rectangle 6"/>
            <p:cNvSpPr/>
            <p:nvPr/>
          </p:nvSpPr>
          <p:spPr bwMode="gray">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7"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Vertical Title 1"/>
          <p:cNvSpPr>
            <a:spLocks noGrp="1"/>
          </p:cNvSpPr>
          <p:nvPr>
            <p:ph type="title" orient="vert"/>
          </p:nvPr>
        </p:nvSpPr>
        <p:spPr>
          <a:xfrm>
            <a:off x="8585235" y="1278467"/>
            <a:ext cx="1409965" cy="4748590"/>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1154954" y="1278467"/>
            <a:ext cx="6256025" cy="474859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0653104" y="6391838"/>
            <a:ext cx="992135" cy="304799"/>
          </a:xfrm>
        </p:spPr>
        <p:txBody>
          <a:bodyPr/>
          <a:lstStyle/>
          <a:p>
            <a:fld id="{CDA879A6-0FD0-4734-A311-86BFCA472E6E}" type="datetimeFigureOut">
              <a:rPr lang="en-US" smtClean="0"/>
              <a:t>9/23/2026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744938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7" name="Rectangle 6"/>
            <p:cNvSpPr/>
            <p:nvPr/>
          </p:nvSpPr>
          <p:spPr>
            <a:xfrm>
              <a:off x="0" y="0"/>
              <a:ext cx="12192000"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13" name="Oval 12"/>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7" name="Oval 16"/>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0"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txBody>
            <a:bodyPr/>
            <a:lstStyle/>
            <a:p>
              <a:endParaRPr lang="en-IN"/>
            </a:p>
          </p:txBody>
        </p:sp>
        <p:sp>
          <p:nvSpPr>
            <p:cNvPr id="19"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txBody>
            <a:bodyPr/>
            <a:lstStyle/>
            <a:p>
              <a:endParaRPr lang="en-IN"/>
            </a:p>
          </p:txBody>
        </p:sp>
        <p:sp>
          <p:nvSpPr>
            <p:cNvPr id="14"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txBody>
            <a:bodyPr/>
            <a:lstStyle/>
            <a:p>
              <a:endParaRPr lang="en-IN"/>
            </a:p>
          </p:txBody>
        </p:sp>
      </p:grpSp>
      <p:sp>
        <p:nvSpPr>
          <p:cNvPr id="2" name="Title Placeholder 1"/>
          <p:cNvSpPr>
            <a:spLocks noGrp="1"/>
          </p:cNvSpPr>
          <p:nvPr>
            <p:ph type="title"/>
          </p:nvPr>
        </p:nvSpPr>
        <p:spPr bwMode="gray">
          <a:xfrm>
            <a:off x="1154954" y="973668"/>
            <a:ext cx="8761413" cy="706964"/>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1154954" y="2603500"/>
            <a:ext cx="8761413" cy="34163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653104" y="6391838"/>
            <a:ext cx="990599" cy="304799"/>
          </a:xfrm>
          <a:prstGeom prst="rect">
            <a:avLst/>
          </a:prstGeom>
        </p:spPr>
        <p:txBody>
          <a:bodyPr vert="horz" lIns="91440" tIns="45720" rIns="91440" bIns="45720" rtlCol="0" anchor="ctr"/>
          <a:lstStyle>
            <a:lvl1pPr algn="r">
              <a:defRPr sz="1000" b="1" i="0">
                <a:solidFill>
                  <a:schemeClr val="accent1"/>
                </a:solidFill>
              </a:defRPr>
            </a:lvl1pPr>
          </a:lstStyle>
          <a:p>
            <a:fld id="{2BE451C3-0FF4-47C4-B829-773ADF60F88C}" type="datetimeFigureOut">
              <a:rPr lang="en-US" smtClean="0"/>
              <a:t>9/23/2026</a:t>
            </a:fld>
            <a:endParaRPr lang="en-US" dirty="0"/>
          </a:p>
        </p:txBody>
      </p:sp>
      <p:sp>
        <p:nvSpPr>
          <p:cNvPr id="5" name="Footer Placeholder 4"/>
          <p:cNvSpPr>
            <a:spLocks noGrp="1"/>
          </p:cNvSpPr>
          <p:nvPr>
            <p:ph type="ftr" sz="quarter" idx="3"/>
          </p:nvPr>
        </p:nvSpPr>
        <p:spPr>
          <a:xfrm>
            <a:off x="561110" y="6391838"/>
            <a:ext cx="3859795" cy="304801"/>
          </a:xfrm>
          <a:prstGeom prst="rect">
            <a:avLst/>
          </a:prstGeom>
        </p:spPr>
        <p:txBody>
          <a:bodyPr vert="horz" lIns="91440" tIns="45720" rIns="91440" bIns="45720" rtlCol="0" anchor="ctr"/>
          <a:lstStyle>
            <a:lvl1pPr algn="l">
              <a:defRPr sz="1000" b="1" i="0">
                <a:solidFill>
                  <a:schemeClr val="accent1"/>
                </a:solidFill>
              </a:defRPr>
            </a:lvl1pPr>
          </a:lstStyle>
          <a:p>
            <a:endParaRPr lang="en-US" dirty="0"/>
          </a:p>
        </p:txBody>
      </p:sp>
      <p:sp>
        <p:nvSpPr>
          <p:cNvPr id="21" name="Rectangle 2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bg1"/>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50182951"/>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 id="2147483725" r:id="rId15"/>
    <p:sldLayoutId id="2147483726" r:id="rId16"/>
    <p:sldLayoutId id="2147483727" r:id="rId17"/>
  </p:sldLayoutIdLst>
  <p:hf sldNum="0" hdr="0" ftr="0" dt="0"/>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960C8-C97C-2FC0-5BE4-0DF92DAFE739}"/>
              </a:ext>
            </a:extLst>
          </p:cNvPr>
          <p:cNvSpPr>
            <a:spLocks noGrp="1"/>
          </p:cNvSpPr>
          <p:nvPr>
            <p:ph type="ctrTitle"/>
          </p:nvPr>
        </p:nvSpPr>
        <p:spPr>
          <a:xfrm>
            <a:off x="968343" y="732239"/>
            <a:ext cx="8825658" cy="1348381"/>
          </a:xfrm>
        </p:spPr>
        <p:txBody>
          <a:bodyPr/>
          <a:lstStyle/>
          <a:p>
            <a:r>
              <a:rPr lang="en-US" sz="3200" b="1" dirty="0"/>
              <a:t>Cloud-Based Online Voting System Using AWS &amp; DevOps </a:t>
            </a:r>
            <a:endParaRPr lang="en-IN" sz="3200" dirty="0"/>
          </a:p>
        </p:txBody>
      </p:sp>
      <p:sp>
        <p:nvSpPr>
          <p:cNvPr id="3" name="Subtitle 2">
            <a:extLst>
              <a:ext uri="{FF2B5EF4-FFF2-40B4-BE49-F238E27FC236}">
                <a16:creationId xmlns:a16="http://schemas.microsoft.com/office/drawing/2014/main" id="{13B4A4BB-46B6-8AD7-F706-85D92520908D}"/>
              </a:ext>
            </a:extLst>
          </p:cNvPr>
          <p:cNvSpPr>
            <a:spLocks noGrp="1"/>
          </p:cNvSpPr>
          <p:nvPr>
            <p:ph type="subTitle" idx="1"/>
          </p:nvPr>
        </p:nvSpPr>
        <p:spPr>
          <a:xfrm>
            <a:off x="1154955" y="2556588"/>
            <a:ext cx="8825658" cy="3082212"/>
          </a:xfrm>
        </p:spPr>
        <p:txBody>
          <a:bodyPr>
            <a:normAutofit/>
          </a:bodyPr>
          <a:lstStyle/>
          <a:p>
            <a:r>
              <a:rPr lang="en-IN" sz="1800" b="1" dirty="0">
                <a:solidFill>
                  <a:schemeClr val="accent5">
                    <a:lumMod val="60000"/>
                    <a:lumOff val="40000"/>
                  </a:schemeClr>
                </a:solidFill>
                <a:latin typeface="Times New Roman" panose="02020603050405020304" pitchFamily="18" charset="0"/>
                <a:cs typeface="Times New Roman" panose="02020603050405020304" pitchFamily="18" charset="0"/>
              </a:rPr>
              <a:t>Team Members:</a:t>
            </a:r>
            <a:endParaRPr lang="en-IN" sz="1800" dirty="0">
              <a:solidFill>
                <a:schemeClr val="accent5">
                  <a:lumMod val="60000"/>
                  <a:lumOff val="40000"/>
                </a:schemeClr>
              </a:solidFill>
              <a:latin typeface="Times New Roman" panose="02020603050405020304" pitchFamily="18" charset="0"/>
              <a:cs typeface="Times New Roman" panose="02020603050405020304" pitchFamily="18" charset="0"/>
            </a:endParaRPr>
          </a:p>
          <a:p>
            <a:pPr marL="0" indent="0">
              <a:buNone/>
            </a:pPr>
            <a:r>
              <a:rPr lang="en-IN" sz="1800" dirty="0">
                <a:solidFill>
                  <a:schemeClr val="accent5">
                    <a:lumMod val="60000"/>
                    <a:lumOff val="40000"/>
                  </a:schemeClr>
                </a:solidFill>
                <a:latin typeface="Times New Roman" panose="02020603050405020304" pitchFamily="18" charset="0"/>
                <a:cs typeface="Times New Roman" panose="02020603050405020304" pitchFamily="18" charset="0"/>
              </a:rPr>
              <a:t>                                     Vaibhav S. </a:t>
            </a:r>
            <a:r>
              <a:rPr lang="en-IN" sz="1800" dirty="0" err="1">
                <a:solidFill>
                  <a:schemeClr val="accent5">
                    <a:lumMod val="60000"/>
                    <a:lumOff val="40000"/>
                  </a:schemeClr>
                </a:solidFill>
                <a:latin typeface="Times New Roman" panose="02020603050405020304" pitchFamily="18" charset="0"/>
                <a:cs typeface="Times New Roman" panose="02020603050405020304" pitchFamily="18" charset="0"/>
              </a:rPr>
              <a:t>Mungal</a:t>
            </a:r>
            <a:r>
              <a:rPr lang="en-IN" sz="1800" dirty="0">
                <a:solidFill>
                  <a:schemeClr val="accent5">
                    <a:lumMod val="60000"/>
                    <a:lumOff val="40000"/>
                  </a:schemeClr>
                </a:solidFill>
                <a:latin typeface="Times New Roman" panose="02020603050405020304" pitchFamily="18" charset="0"/>
                <a:cs typeface="Times New Roman" panose="02020603050405020304" pitchFamily="18" charset="0"/>
              </a:rPr>
              <a:t> (82)</a:t>
            </a:r>
          </a:p>
          <a:p>
            <a:pPr marL="0" indent="0">
              <a:buNone/>
            </a:pPr>
            <a:r>
              <a:rPr lang="en-IN" sz="1800" dirty="0">
                <a:solidFill>
                  <a:schemeClr val="accent5">
                    <a:lumMod val="60000"/>
                    <a:lumOff val="40000"/>
                  </a:schemeClr>
                </a:solidFill>
                <a:latin typeface="Times New Roman" panose="02020603050405020304" pitchFamily="18" charset="0"/>
                <a:cs typeface="Times New Roman" panose="02020603050405020304" pitchFamily="18" charset="0"/>
              </a:rPr>
              <a:t>                                     </a:t>
            </a:r>
          </a:p>
          <a:p>
            <a:r>
              <a:rPr lang="en-IN" sz="1800" b="1" dirty="0">
                <a:solidFill>
                  <a:schemeClr val="accent5">
                    <a:lumMod val="60000"/>
                    <a:lumOff val="40000"/>
                  </a:schemeClr>
                </a:solidFill>
                <a:latin typeface="Times New Roman" panose="02020603050405020304" pitchFamily="18" charset="0"/>
                <a:cs typeface="Times New Roman" panose="02020603050405020304" pitchFamily="18" charset="0"/>
              </a:rPr>
              <a:t>Department:</a:t>
            </a:r>
            <a:r>
              <a:rPr lang="en-IN" sz="1800" dirty="0">
                <a:solidFill>
                  <a:schemeClr val="accent5">
                    <a:lumMod val="60000"/>
                    <a:lumOff val="40000"/>
                  </a:schemeClr>
                </a:solidFill>
                <a:latin typeface="Times New Roman" panose="02020603050405020304" pitchFamily="18" charset="0"/>
                <a:cs typeface="Times New Roman" panose="02020603050405020304" pitchFamily="18" charset="0"/>
              </a:rPr>
              <a:t> Computer Science &amp; Engineering</a:t>
            </a:r>
          </a:p>
          <a:p>
            <a:endParaRPr lang="en-IN" sz="1800" b="1" dirty="0">
              <a:solidFill>
                <a:schemeClr val="accent5">
                  <a:lumMod val="60000"/>
                  <a:lumOff val="40000"/>
                </a:schemeClr>
              </a:solidFill>
              <a:latin typeface="Times New Roman" panose="02020603050405020304" pitchFamily="18" charset="0"/>
              <a:cs typeface="Times New Roman" panose="02020603050405020304" pitchFamily="18" charset="0"/>
            </a:endParaRPr>
          </a:p>
          <a:p>
            <a:r>
              <a:rPr lang="en-US" sz="1800" b="1" dirty="0">
                <a:solidFill>
                  <a:schemeClr val="accent5">
                    <a:lumMod val="60000"/>
                    <a:lumOff val="40000"/>
                  </a:schemeClr>
                </a:solidFill>
                <a:latin typeface="Times New Roman" panose="02020603050405020304" pitchFamily="18" charset="0"/>
                <a:ea typeface="Inter" pitchFamily="34" charset="-122"/>
                <a:cs typeface="Times New Roman" panose="02020603050405020304" pitchFamily="18" charset="0"/>
              </a:rPr>
              <a:t>Academic Year:</a:t>
            </a:r>
            <a:r>
              <a:rPr lang="en-US" sz="1800" dirty="0">
                <a:solidFill>
                  <a:schemeClr val="accent5">
                    <a:lumMod val="60000"/>
                    <a:lumOff val="40000"/>
                  </a:schemeClr>
                </a:solidFill>
                <a:latin typeface="Times New Roman" panose="02020603050405020304" pitchFamily="18" charset="0"/>
                <a:ea typeface="Inter" pitchFamily="34" charset="-122"/>
                <a:cs typeface="Times New Roman" panose="02020603050405020304" pitchFamily="18" charset="0"/>
              </a:rPr>
              <a:t> 2025–26</a:t>
            </a:r>
            <a:endParaRPr lang="en-US" sz="1800" dirty="0">
              <a:solidFill>
                <a:schemeClr val="accent5">
                  <a:lumMod val="60000"/>
                  <a:lumOff val="40000"/>
                </a:schemeClr>
              </a:solidFill>
              <a:latin typeface="Times New Roman" panose="02020603050405020304" pitchFamily="18" charset="0"/>
              <a:cs typeface="Times New Roman" panose="02020603050405020304" pitchFamily="18" charset="0"/>
            </a:endParaRPr>
          </a:p>
          <a:p>
            <a:endParaRPr lang="en-IN" sz="1800" b="1" dirty="0"/>
          </a:p>
          <a:p>
            <a:endParaRPr lang="en-IN" dirty="0"/>
          </a:p>
        </p:txBody>
      </p:sp>
    </p:spTree>
    <p:extLst>
      <p:ext uri="{BB962C8B-B14F-4D97-AF65-F5344CB8AC3E}">
        <p14:creationId xmlns:p14="http://schemas.microsoft.com/office/powerpoint/2010/main" val="9644320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1F5BC-3919-0D01-B237-ACC3D997AAAF}"/>
              </a:ext>
            </a:extLst>
          </p:cNvPr>
          <p:cNvSpPr>
            <a:spLocks noGrp="1"/>
          </p:cNvSpPr>
          <p:nvPr>
            <p:ph type="title"/>
          </p:nvPr>
        </p:nvSpPr>
        <p:spPr/>
        <p:txBody>
          <a:bodyPr/>
          <a:lstStyle/>
          <a:p>
            <a:pPr algn="ctr"/>
            <a:r>
              <a:rPr lang="en-IN" b="1" dirty="0"/>
              <a:t>Introduction</a:t>
            </a:r>
          </a:p>
        </p:txBody>
      </p:sp>
      <p:sp>
        <p:nvSpPr>
          <p:cNvPr id="3" name="Content Placeholder 2">
            <a:extLst>
              <a:ext uri="{FF2B5EF4-FFF2-40B4-BE49-F238E27FC236}">
                <a16:creationId xmlns:a16="http://schemas.microsoft.com/office/drawing/2014/main" id="{FFDADEBD-6934-2CDE-BEE9-F86B248ABE66}"/>
              </a:ext>
            </a:extLst>
          </p:cNvPr>
          <p:cNvSpPr>
            <a:spLocks noGrp="1"/>
          </p:cNvSpPr>
          <p:nvPr>
            <p:ph idx="1"/>
          </p:nvPr>
        </p:nvSpPr>
        <p:spPr/>
        <p:txBody>
          <a:bodyPr>
            <a:normAutofit/>
          </a:bodyPr>
          <a:lstStyle/>
          <a:p>
            <a:r>
              <a:rPr lang="en-IN" sz="1600" dirty="0"/>
              <a:t>Our project is a Cloud-Based Online Voting System. The main purpose of this project is to allow users to register, authenticate themselves, cast their vote online, and view election results.</a:t>
            </a:r>
          </a:p>
          <a:p>
            <a:r>
              <a:rPr lang="en-IN" sz="1600" dirty="0"/>
              <a:t>The application is developed using web technologies and deployed in a cloud environment. The system provides a faster and more accessible voting process compared with traditional paper-based voting.</a:t>
            </a:r>
          </a:p>
          <a:p>
            <a:r>
              <a:rPr lang="en-IN" sz="1600" dirty="0"/>
              <a:t>In the updated deployment, we have containerized the application using Docker and deployed the container using Kubernetes.</a:t>
            </a:r>
          </a:p>
          <a:p>
            <a:pPr marL="0" indent="0">
              <a:buNone/>
            </a:pPr>
            <a:endParaRPr lang="en-IN" sz="1600" b="1" dirty="0">
              <a:latin typeface="+mj-lt"/>
            </a:endParaRPr>
          </a:p>
        </p:txBody>
      </p:sp>
    </p:spTree>
    <p:extLst>
      <p:ext uri="{BB962C8B-B14F-4D97-AF65-F5344CB8AC3E}">
        <p14:creationId xmlns:p14="http://schemas.microsoft.com/office/powerpoint/2010/main" val="26292351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CCCAF-072A-1228-0161-C9A341B87845}"/>
              </a:ext>
            </a:extLst>
          </p:cNvPr>
          <p:cNvSpPr>
            <a:spLocks noGrp="1"/>
          </p:cNvSpPr>
          <p:nvPr>
            <p:ph type="title"/>
          </p:nvPr>
        </p:nvSpPr>
        <p:spPr/>
        <p:txBody>
          <a:bodyPr/>
          <a:lstStyle/>
          <a:p>
            <a:pPr algn="ctr"/>
            <a:r>
              <a:rPr lang="en-US" b="1" dirty="0"/>
              <a:t>Problem Definition</a:t>
            </a:r>
            <a:endParaRPr lang="en-IN" b="1" dirty="0"/>
          </a:p>
        </p:txBody>
      </p:sp>
      <p:sp>
        <p:nvSpPr>
          <p:cNvPr id="3" name="Content Placeholder 2">
            <a:extLst>
              <a:ext uri="{FF2B5EF4-FFF2-40B4-BE49-F238E27FC236}">
                <a16:creationId xmlns:a16="http://schemas.microsoft.com/office/drawing/2014/main" id="{0267CEE9-C734-E1BD-FD0A-7F1127D864D6}"/>
              </a:ext>
            </a:extLst>
          </p:cNvPr>
          <p:cNvSpPr>
            <a:spLocks noGrp="1"/>
          </p:cNvSpPr>
          <p:nvPr>
            <p:ph idx="1"/>
          </p:nvPr>
        </p:nvSpPr>
        <p:spPr/>
        <p:txBody>
          <a:bodyPr>
            <a:normAutofit lnSpcReduction="10000"/>
          </a:bodyPr>
          <a:lstStyle/>
          <a:p>
            <a:pPr marL="0" indent="0">
              <a:buNone/>
            </a:pPr>
            <a:r>
              <a:rPr lang="en-US" dirty="0"/>
              <a:t>Traditional paper-based voting suffers from several major issues:</a:t>
            </a:r>
          </a:p>
          <a:p>
            <a:r>
              <a:rPr lang="en-US" dirty="0"/>
              <a:t>Requires physical presence of voters</a:t>
            </a:r>
          </a:p>
          <a:p>
            <a:r>
              <a:rPr lang="en-US" dirty="0"/>
              <a:t>Long queues and time-consuming process</a:t>
            </a:r>
          </a:p>
          <a:p>
            <a:r>
              <a:rPr lang="en-US" dirty="0"/>
              <a:t>Manual counting leads to errors</a:t>
            </a:r>
          </a:p>
          <a:p>
            <a:r>
              <a:rPr lang="en-US" dirty="0"/>
              <a:t>Risk of data tampering or manipulation</a:t>
            </a:r>
          </a:p>
          <a:p>
            <a:r>
              <a:rPr lang="en-US" dirty="0"/>
              <a:t>High cost for printing and staff</a:t>
            </a:r>
          </a:p>
          <a:p>
            <a:r>
              <a:rPr lang="en-US" dirty="0"/>
              <a:t>Low accessibility for remote voters</a:t>
            </a:r>
          </a:p>
          <a:p>
            <a:r>
              <a:rPr lang="en-US" dirty="0"/>
              <a:t>To solve these challenges, a secure, cloud-based online voting system is needed that allows users to participate in elections digitally and safely.</a:t>
            </a:r>
            <a:endParaRPr lang="en-IN" dirty="0"/>
          </a:p>
        </p:txBody>
      </p:sp>
    </p:spTree>
    <p:extLst>
      <p:ext uri="{BB962C8B-B14F-4D97-AF65-F5344CB8AC3E}">
        <p14:creationId xmlns:p14="http://schemas.microsoft.com/office/powerpoint/2010/main" val="4218217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A6508-B830-515D-B244-5CEB7517D2D5}"/>
              </a:ext>
            </a:extLst>
          </p:cNvPr>
          <p:cNvSpPr>
            <a:spLocks noGrp="1"/>
          </p:cNvSpPr>
          <p:nvPr>
            <p:ph type="title"/>
          </p:nvPr>
        </p:nvSpPr>
        <p:spPr/>
        <p:txBody>
          <a:bodyPr/>
          <a:lstStyle/>
          <a:p>
            <a:pPr algn="ctr"/>
            <a:r>
              <a:rPr lang="en-US" b="1" dirty="0"/>
              <a:t>Objectives Achieved</a:t>
            </a:r>
            <a:endParaRPr lang="en-IN" b="1" dirty="0"/>
          </a:p>
        </p:txBody>
      </p:sp>
      <p:sp>
        <p:nvSpPr>
          <p:cNvPr id="3" name="Content Placeholder 2">
            <a:extLst>
              <a:ext uri="{FF2B5EF4-FFF2-40B4-BE49-F238E27FC236}">
                <a16:creationId xmlns:a16="http://schemas.microsoft.com/office/drawing/2014/main" id="{07402964-8500-B69D-5A9E-B61A1165482A}"/>
              </a:ext>
            </a:extLst>
          </p:cNvPr>
          <p:cNvSpPr>
            <a:spLocks noGrp="1"/>
          </p:cNvSpPr>
          <p:nvPr>
            <p:ph idx="1"/>
          </p:nvPr>
        </p:nvSpPr>
        <p:spPr/>
        <p:txBody>
          <a:bodyPr>
            <a:normAutofit lnSpcReduction="10000"/>
          </a:bodyPr>
          <a:lstStyle/>
          <a:p>
            <a:pPr marL="0" indent="0">
              <a:buNone/>
            </a:pPr>
            <a:r>
              <a:rPr lang="en-US" dirty="0"/>
              <a:t>The main objectives of the cloud-based online voting system are:</a:t>
            </a:r>
          </a:p>
          <a:p>
            <a:pPr lvl="0"/>
            <a:r>
              <a:rPr lang="en-IN" dirty="0"/>
              <a:t>Develop a secure online voting platform. </a:t>
            </a:r>
          </a:p>
          <a:p>
            <a:pPr lvl="0"/>
            <a:r>
              <a:rPr lang="en-IN" dirty="0"/>
              <a:t>Provide voter registration and authentication. </a:t>
            </a:r>
          </a:p>
          <a:p>
            <a:pPr lvl="0"/>
            <a:r>
              <a:rPr lang="en-IN" dirty="0"/>
              <a:t>Implement </a:t>
            </a:r>
            <a:r>
              <a:rPr lang="en-IN" b="1" dirty="0"/>
              <a:t>one-user-one-vote</a:t>
            </a:r>
            <a:r>
              <a:rPr lang="en-IN" dirty="0"/>
              <a:t> functionality. </a:t>
            </a:r>
          </a:p>
          <a:p>
            <a:pPr lvl="0"/>
            <a:r>
              <a:rPr lang="en-IN" dirty="0"/>
              <a:t>Generate election results automatically. </a:t>
            </a:r>
          </a:p>
          <a:p>
            <a:pPr lvl="0"/>
            <a:r>
              <a:rPr lang="en-IN" dirty="0"/>
              <a:t>Reduce manual counting. </a:t>
            </a:r>
          </a:p>
          <a:p>
            <a:pPr lvl="0"/>
            <a:r>
              <a:rPr lang="en-IN" dirty="0"/>
              <a:t>Deploy the application in a cloud environment. </a:t>
            </a:r>
          </a:p>
          <a:p>
            <a:pPr lvl="0"/>
            <a:r>
              <a:rPr lang="en-IN" dirty="0"/>
              <a:t>Containerize the application using Docker. </a:t>
            </a:r>
          </a:p>
          <a:p>
            <a:pPr lvl="0"/>
            <a:r>
              <a:rPr lang="en-IN" dirty="0"/>
              <a:t>Deploy the containerized application using Kubernetes.</a:t>
            </a:r>
          </a:p>
        </p:txBody>
      </p:sp>
    </p:spTree>
    <p:extLst>
      <p:ext uri="{BB962C8B-B14F-4D97-AF65-F5344CB8AC3E}">
        <p14:creationId xmlns:p14="http://schemas.microsoft.com/office/powerpoint/2010/main" val="33991337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38FB2-B64C-C402-B341-9876130FF0FA}"/>
              </a:ext>
            </a:extLst>
          </p:cNvPr>
          <p:cNvSpPr>
            <a:spLocks noGrp="1"/>
          </p:cNvSpPr>
          <p:nvPr>
            <p:ph type="title"/>
          </p:nvPr>
        </p:nvSpPr>
        <p:spPr/>
        <p:txBody>
          <a:bodyPr/>
          <a:lstStyle/>
          <a:p>
            <a:pPr algn="ctr"/>
            <a:r>
              <a:rPr lang="en-US" b="1" dirty="0"/>
              <a:t>Scope of the Project</a:t>
            </a:r>
            <a:endParaRPr lang="en-IN" b="1" dirty="0"/>
          </a:p>
        </p:txBody>
      </p:sp>
      <p:sp>
        <p:nvSpPr>
          <p:cNvPr id="3" name="Content Placeholder 2">
            <a:extLst>
              <a:ext uri="{FF2B5EF4-FFF2-40B4-BE49-F238E27FC236}">
                <a16:creationId xmlns:a16="http://schemas.microsoft.com/office/drawing/2014/main" id="{7AE58254-776A-43A6-7E76-F9AA4FEDFA5D}"/>
              </a:ext>
            </a:extLst>
          </p:cNvPr>
          <p:cNvSpPr>
            <a:spLocks noGrp="1"/>
          </p:cNvSpPr>
          <p:nvPr>
            <p:ph idx="1"/>
          </p:nvPr>
        </p:nvSpPr>
        <p:spPr/>
        <p:txBody>
          <a:bodyPr/>
          <a:lstStyle/>
          <a:p>
            <a:pPr marL="0" indent="0">
              <a:buNone/>
            </a:pPr>
            <a:r>
              <a:rPr lang="en-US" dirty="0"/>
              <a:t>The online voting system can be used in:</a:t>
            </a:r>
          </a:p>
          <a:p>
            <a:r>
              <a:rPr lang="en-US" dirty="0"/>
              <a:t>Colleges &amp; Universities</a:t>
            </a:r>
          </a:p>
          <a:p>
            <a:r>
              <a:rPr lang="en-US" dirty="0"/>
              <a:t>Schools</a:t>
            </a:r>
          </a:p>
          <a:p>
            <a:r>
              <a:rPr lang="en-US" dirty="0"/>
              <a:t>Clubs &amp; Communities</a:t>
            </a:r>
          </a:p>
          <a:p>
            <a:r>
              <a:rPr lang="en-US" dirty="0"/>
              <a:t>Classroom Elections</a:t>
            </a:r>
          </a:p>
          <a:p>
            <a:r>
              <a:rPr lang="en-US" dirty="0"/>
              <a:t>Organizations &amp; Committees</a:t>
            </a:r>
          </a:p>
        </p:txBody>
      </p:sp>
    </p:spTree>
    <p:extLst>
      <p:ext uri="{BB962C8B-B14F-4D97-AF65-F5344CB8AC3E}">
        <p14:creationId xmlns:p14="http://schemas.microsoft.com/office/powerpoint/2010/main" val="16411946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E3A80-9D9A-EFCC-261D-8AC168081BB6}"/>
              </a:ext>
            </a:extLst>
          </p:cNvPr>
          <p:cNvSpPr>
            <a:spLocks noGrp="1"/>
          </p:cNvSpPr>
          <p:nvPr>
            <p:ph type="title"/>
          </p:nvPr>
        </p:nvSpPr>
        <p:spPr/>
        <p:txBody>
          <a:bodyPr/>
          <a:lstStyle/>
          <a:p>
            <a:pPr algn="ctr"/>
            <a:r>
              <a:rPr lang="en-IN" b="1" dirty="0"/>
              <a:t>Technologies Used</a:t>
            </a:r>
          </a:p>
        </p:txBody>
      </p:sp>
      <p:sp>
        <p:nvSpPr>
          <p:cNvPr id="3" name="Content Placeholder 2">
            <a:extLst>
              <a:ext uri="{FF2B5EF4-FFF2-40B4-BE49-F238E27FC236}">
                <a16:creationId xmlns:a16="http://schemas.microsoft.com/office/drawing/2014/main" id="{8E75339D-3928-28B0-A6C4-BF53348EEF39}"/>
              </a:ext>
            </a:extLst>
          </p:cNvPr>
          <p:cNvSpPr>
            <a:spLocks noGrp="1"/>
          </p:cNvSpPr>
          <p:nvPr>
            <p:ph idx="1"/>
          </p:nvPr>
        </p:nvSpPr>
        <p:spPr/>
        <p:txBody>
          <a:bodyPr>
            <a:normAutofit fontScale="62500" lnSpcReduction="20000"/>
          </a:bodyPr>
          <a:lstStyle/>
          <a:p>
            <a:r>
              <a:rPr lang="en-IN" dirty="0"/>
              <a:t>Frontend: HTML, CSS, JavaScript    </a:t>
            </a:r>
          </a:p>
          <a:p>
            <a:r>
              <a:rPr lang="en-IN" dirty="0"/>
              <a:t>Backend: PHP</a:t>
            </a:r>
          </a:p>
          <a:p>
            <a:r>
              <a:rPr lang="en-IN" dirty="0"/>
              <a:t>Database: MySQL</a:t>
            </a:r>
          </a:p>
          <a:p>
            <a:r>
              <a:rPr lang="en-IN" dirty="0"/>
              <a:t>Cloud Platform: AWS EC2</a:t>
            </a:r>
          </a:p>
          <a:p>
            <a:r>
              <a:rPr lang="en-IN" dirty="0"/>
              <a:t>Version Control: Git/GitHub</a:t>
            </a:r>
          </a:p>
          <a:p>
            <a:pPr>
              <a:buSzPct val="100000"/>
              <a:buFont typeface="Arial" panose="020B0604020202020204" pitchFamily="34" charset="0"/>
              <a:buChar char="•"/>
            </a:pPr>
            <a:r>
              <a:rPr lang="en-IN" b="1" dirty="0"/>
              <a:t>Deployment technologies</a:t>
            </a:r>
          </a:p>
          <a:p>
            <a:r>
              <a:rPr lang="en-IN" b="1" dirty="0"/>
              <a:t>Containerization</a:t>
            </a:r>
            <a:endParaRPr lang="en-IN" dirty="0"/>
          </a:p>
          <a:p>
            <a:pPr lvl="0"/>
            <a:r>
              <a:rPr lang="en-IN" dirty="0"/>
              <a:t>Docker </a:t>
            </a:r>
          </a:p>
          <a:p>
            <a:r>
              <a:rPr lang="en-IN" b="1" dirty="0"/>
              <a:t>Container Registry</a:t>
            </a:r>
            <a:endParaRPr lang="en-IN" dirty="0"/>
          </a:p>
          <a:p>
            <a:pPr lvl="0"/>
            <a:r>
              <a:rPr lang="en-IN" dirty="0"/>
              <a:t>Docker Hub </a:t>
            </a:r>
          </a:p>
          <a:p>
            <a:r>
              <a:rPr lang="en-IN" b="1" dirty="0"/>
              <a:t>Container Orchestration</a:t>
            </a:r>
            <a:endParaRPr lang="en-IN" dirty="0"/>
          </a:p>
          <a:p>
            <a:pPr lvl="0"/>
            <a:r>
              <a:rPr lang="en-IN" dirty="0"/>
              <a:t>Kubernetes </a:t>
            </a:r>
          </a:p>
          <a:p>
            <a:r>
              <a:rPr lang="en-IN" b="1" dirty="0"/>
              <a:t>Kubernetes resources</a:t>
            </a:r>
            <a:endParaRPr lang="en-IN" dirty="0"/>
          </a:p>
        </p:txBody>
      </p:sp>
    </p:spTree>
    <p:extLst>
      <p:ext uri="{BB962C8B-B14F-4D97-AF65-F5344CB8AC3E}">
        <p14:creationId xmlns:p14="http://schemas.microsoft.com/office/powerpoint/2010/main" val="3203382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BEB0-B077-95B3-5A92-DF4FFE567D65}"/>
              </a:ext>
            </a:extLst>
          </p:cNvPr>
          <p:cNvSpPr>
            <a:spLocks noGrp="1"/>
          </p:cNvSpPr>
          <p:nvPr>
            <p:ph type="title"/>
          </p:nvPr>
        </p:nvSpPr>
        <p:spPr/>
        <p:txBody>
          <a:bodyPr/>
          <a:lstStyle/>
          <a:p>
            <a:pPr algn="ctr"/>
            <a:r>
              <a:rPr lang="en-IN" b="1" dirty="0"/>
              <a:t>Implementation</a:t>
            </a:r>
          </a:p>
        </p:txBody>
      </p:sp>
      <p:sp>
        <p:nvSpPr>
          <p:cNvPr id="3" name="Content Placeholder 2">
            <a:extLst>
              <a:ext uri="{FF2B5EF4-FFF2-40B4-BE49-F238E27FC236}">
                <a16:creationId xmlns:a16="http://schemas.microsoft.com/office/drawing/2014/main" id="{A7AB95BF-3457-5EDA-024E-EBCC42A6191D}"/>
              </a:ext>
            </a:extLst>
          </p:cNvPr>
          <p:cNvSpPr>
            <a:spLocks noGrp="1"/>
          </p:cNvSpPr>
          <p:nvPr>
            <p:ph idx="1"/>
          </p:nvPr>
        </p:nvSpPr>
        <p:spPr/>
        <p:txBody>
          <a:bodyPr>
            <a:normAutofit fontScale="85000" lnSpcReduction="10000"/>
          </a:bodyPr>
          <a:lstStyle/>
          <a:p>
            <a:r>
              <a:rPr lang="en-IN" dirty="0"/>
              <a:t>First, we developed the application using HTML, CSS, JavaScript, PHP and MySQL.</a:t>
            </a:r>
          </a:p>
          <a:p>
            <a:r>
              <a:rPr lang="en-IN" dirty="0"/>
              <a:t>We implemented voter registration and login functionality. We also created an admin dashboard for managing voters, candidates and elections.</a:t>
            </a:r>
          </a:p>
          <a:p>
            <a:r>
              <a:rPr lang="en-IN" dirty="0"/>
              <a:t>The voting module implements the one-user-one-vote rule.</a:t>
            </a:r>
          </a:p>
          <a:p>
            <a:r>
              <a:rPr lang="en-IN" dirty="0"/>
              <a:t>MySQL is used to store voter, candidate and voting information.</a:t>
            </a:r>
          </a:p>
          <a:p>
            <a:r>
              <a:rPr lang="en-IN" dirty="0"/>
              <a:t>After completing the application, we containerized the PHP application using Docker.</a:t>
            </a:r>
          </a:p>
          <a:p>
            <a:r>
              <a:rPr lang="en-IN" dirty="0"/>
              <a:t>We created a Docker image and pushed that image to Docker Hub.</a:t>
            </a:r>
          </a:p>
          <a:p>
            <a:r>
              <a:rPr lang="en-IN" dirty="0"/>
              <a:t>Kubernetes then uses that Docker image to create application Pods through a Kubernetes Deployment.</a:t>
            </a:r>
          </a:p>
          <a:p>
            <a:r>
              <a:rPr lang="en-IN" dirty="0"/>
              <a:t>Finally, we use a Kubernetes Service to provide network access to the application.</a:t>
            </a:r>
          </a:p>
        </p:txBody>
      </p:sp>
    </p:spTree>
    <p:extLst>
      <p:ext uri="{BB962C8B-B14F-4D97-AF65-F5344CB8AC3E}">
        <p14:creationId xmlns:p14="http://schemas.microsoft.com/office/powerpoint/2010/main" val="14210975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5023F4-0153-70E0-D8B2-8AEE2A128616}"/>
              </a:ext>
            </a:extLst>
          </p:cNvPr>
          <p:cNvSpPr>
            <a:spLocks noGrp="1"/>
          </p:cNvSpPr>
          <p:nvPr>
            <p:ph type="title"/>
          </p:nvPr>
        </p:nvSpPr>
        <p:spPr/>
        <p:txBody>
          <a:bodyPr/>
          <a:lstStyle/>
          <a:p>
            <a:pPr algn="ctr"/>
            <a:r>
              <a:rPr lang="en-US" b="1" dirty="0"/>
              <a:t>Testing and Validation</a:t>
            </a:r>
            <a:endParaRPr lang="en-IN" b="1" dirty="0"/>
          </a:p>
        </p:txBody>
      </p:sp>
      <p:sp>
        <p:nvSpPr>
          <p:cNvPr id="3" name="Content Placeholder 2">
            <a:extLst>
              <a:ext uri="{FF2B5EF4-FFF2-40B4-BE49-F238E27FC236}">
                <a16:creationId xmlns:a16="http://schemas.microsoft.com/office/drawing/2014/main" id="{785866B8-1BE4-284F-9D5B-879306F85884}"/>
              </a:ext>
            </a:extLst>
          </p:cNvPr>
          <p:cNvSpPr>
            <a:spLocks noGrp="1"/>
          </p:cNvSpPr>
          <p:nvPr>
            <p:ph idx="1"/>
          </p:nvPr>
        </p:nvSpPr>
        <p:spPr/>
        <p:txBody>
          <a:bodyPr/>
          <a:lstStyle/>
          <a:p>
            <a:r>
              <a:rPr lang="en-IN" dirty="0"/>
              <a:t>Conducted functional testing on all modules, including voter registration, login, candidate management, vote casting, and result generation.</a:t>
            </a:r>
          </a:p>
          <a:p>
            <a:r>
              <a:rPr lang="en-IN" dirty="0"/>
              <a:t>Verified secure user authentication to ensure only authorized users could access the system.</a:t>
            </a:r>
          </a:p>
          <a:p>
            <a:r>
              <a:rPr lang="en-IN" dirty="0"/>
              <a:t>Tested the one-user-one-vote mechanism to prevent duplicate voting.</a:t>
            </a:r>
          </a:p>
          <a:p>
            <a:r>
              <a:rPr lang="en-IN" dirty="0"/>
              <a:t>Validated database operations for accurate storage and retrieval of voter and candidate information.</a:t>
            </a:r>
            <a:endParaRPr lang="en-US" dirty="0"/>
          </a:p>
          <a:p>
            <a:r>
              <a:rPr lang="en-IN" dirty="0"/>
              <a:t>Successfully passed all test cases, confirming the system's functionality, security, and performance.</a:t>
            </a:r>
          </a:p>
        </p:txBody>
      </p:sp>
    </p:spTree>
    <p:extLst>
      <p:ext uri="{BB962C8B-B14F-4D97-AF65-F5344CB8AC3E}">
        <p14:creationId xmlns:p14="http://schemas.microsoft.com/office/powerpoint/2010/main" val="23077175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E8CBA-984A-BABA-C265-1E16D918166B}"/>
              </a:ext>
            </a:extLst>
          </p:cNvPr>
          <p:cNvSpPr>
            <a:spLocks noGrp="1"/>
          </p:cNvSpPr>
          <p:nvPr>
            <p:ph type="title"/>
          </p:nvPr>
        </p:nvSpPr>
        <p:spPr/>
        <p:txBody>
          <a:bodyPr/>
          <a:lstStyle/>
          <a:p>
            <a:pPr algn="ctr"/>
            <a:r>
              <a:rPr lang="en-US" b="1" dirty="0"/>
              <a:t>FINAL OUTPUT</a:t>
            </a:r>
            <a:endParaRPr lang="en-IN" b="1" dirty="0"/>
          </a:p>
        </p:txBody>
      </p:sp>
      <p:sp>
        <p:nvSpPr>
          <p:cNvPr id="3" name="Content Placeholder 2">
            <a:extLst>
              <a:ext uri="{FF2B5EF4-FFF2-40B4-BE49-F238E27FC236}">
                <a16:creationId xmlns:a16="http://schemas.microsoft.com/office/drawing/2014/main" id="{B57D0C0A-E817-D43B-0B86-1C4F55754634}"/>
              </a:ext>
            </a:extLst>
          </p:cNvPr>
          <p:cNvSpPr>
            <a:spLocks noGrp="1"/>
          </p:cNvSpPr>
          <p:nvPr>
            <p:ph idx="1"/>
          </p:nvPr>
        </p:nvSpPr>
        <p:spPr>
          <a:xfrm>
            <a:off x="1154954" y="2346827"/>
            <a:ext cx="8825659" cy="3416300"/>
          </a:xfrm>
        </p:spPr>
        <p:txBody>
          <a:bodyPr>
            <a:noAutofit/>
          </a:bodyPr>
          <a:lstStyle/>
          <a:p>
            <a:r>
              <a:rPr lang="en-IN" dirty="0"/>
              <a:t>Users can register and log in securely through the web application.</a:t>
            </a:r>
          </a:p>
          <a:p>
            <a:r>
              <a:rPr lang="en-IN" dirty="0"/>
              <a:t>Voters can cast their votes online from any location using an internet connection.</a:t>
            </a:r>
          </a:p>
          <a:p>
            <a:r>
              <a:rPr lang="en-IN" dirty="0"/>
              <a:t>The system successfully enforces the </a:t>
            </a:r>
            <a:r>
              <a:rPr lang="en-IN" b="1" dirty="0"/>
              <a:t>one-user-one-vote</a:t>
            </a:r>
            <a:r>
              <a:rPr lang="en-IN" dirty="0"/>
              <a:t> policy and prevents duplicate voting.</a:t>
            </a:r>
          </a:p>
          <a:p>
            <a:r>
              <a:rPr lang="en-IN" dirty="0"/>
              <a:t>Administrators can add, update, and manage candidates through the admin panel.</a:t>
            </a:r>
          </a:p>
          <a:p>
            <a:r>
              <a:rPr lang="en-IN" dirty="0"/>
              <a:t>Votes are securely stored in the MySQL database and processed accurately.</a:t>
            </a:r>
          </a:p>
          <a:p>
            <a:r>
              <a:rPr lang="en-IN" dirty="0"/>
              <a:t>Election results are generated automatically and displayed in real time.</a:t>
            </a:r>
          </a:p>
          <a:p>
            <a:r>
              <a:rPr lang="en-IN" dirty="0"/>
              <a:t>The system reduces manual effort, eliminates paper-based processes, and improves election transparency.</a:t>
            </a:r>
          </a:p>
        </p:txBody>
      </p:sp>
    </p:spTree>
    <p:extLst>
      <p:ext uri="{BB962C8B-B14F-4D97-AF65-F5344CB8AC3E}">
        <p14:creationId xmlns:p14="http://schemas.microsoft.com/office/powerpoint/2010/main" val="3904953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7A1D21-846F-8A69-B232-A9464DE02A58}"/>
              </a:ext>
            </a:extLst>
          </p:cNvPr>
          <p:cNvSpPr>
            <a:spLocks noGrp="1"/>
          </p:cNvSpPr>
          <p:nvPr>
            <p:ph type="title"/>
          </p:nvPr>
        </p:nvSpPr>
        <p:spPr/>
        <p:txBody>
          <a:bodyPr/>
          <a:lstStyle/>
          <a:p>
            <a:pPr algn="ctr"/>
            <a:r>
              <a:rPr lang="en-US" b="1" dirty="0"/>
              <a:t>Admin Login Portal</a:t>
            </a:r>
            <a:endParaRPr lang="en-IN" b="1" dirty="0"/>
          </a:p>
        </p:txBody>
      </p:sp>
      <p:pic>
        <p:nvPicPr>
          <p:cNvPr id="5" name="Content Placeholder 4">
            <a:extLst>
              <a:ext uri="{FF2B5EF4-FFF2-40B4-BE49-F238E27FC236}">
                <a16:creationId xmlns:a16="http://schemas.microsoft.com/office/drawing/2014/main" id="{D010B715-7CC6-B2EF-CE8F-A9E2B20D3A12}"/>
              </a:ext>
            </a:extLst>
          </p:cNvPr>
          <p:cNvPicPr>
            <a:picLocks noGrp="1" noChangeAspect="1"/>
          </p:cNvPicPr>
          <p:nvPr>
            <p:ph idx="1"/>
          </p:nvPr>
        </p:nvPicPr>
        <p:blipFill>
          <a:blip r:embed="rId2"/>
          <a:stretch>
            <a:fillRect/>
          </a:stretch>
        </p:blipFill>
        <p:spPr>
          <a:xfrm>
            <a:off x="1838958" y="2603500"/>
            <a:ext cx="7458396" cy="3416300"/>
          </a:xfrm>
          <a:prstGeom prst="rect">
            <a:avLst/>
          </a:prstGeom>
        </p:spPr>
      </p:pic>
    </p:spTree>
    <p:extLst>
      <p:ext uri="{BB962C8B-B14F-4D97-AF65-F5344CB8AC3E}">
        <p14:creationId xmlns:p14="http://schemas.microsoft.com/office/powerpoint/2010/main" val="19566025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CCF9E-A74D-BF58-EEAD-5E66AF0A612C}"/>
              </a:ext>
            </a:extLst>
          </p:cNvPr>
          <p:cNvSpPr>
            <a:spLocks noGrp="1"/>
          </p:cNvSpPr>
          <p:nvPr>
            <p:ph type="title"/>
          </p:nvPr>
        </p:nvSpPr>
        <p:spPr/>
        <p:txBody>
          <a:bodyPr/>
          <a:lstStyle/>
          <a:p>
            <a:pPr algn="ctr"/>
            <a:r>
              <a:rPr lang="en-US" b="1" dirty="0"/>
              <a:t>User Login Portal</a:t>
            </a:r>
            <a:endParaRPr lang="en-IN" b="1" dirty="0"/>
          </a:p>
        </p:txBody>
      </p:sp>
      <p:pic>
        <p:nvPicPr>
          <p:cNvPr id="5" name="Content Placeholder 4">
            <a:extLst>
              <a:ext uri="{FF2B5EF4-FFF2-40B4-BE49-F238E27FC236}">
                <a16:creationId xmlns:a16="http://schemas.microsoft.com/office/drawing/2014/main" id="{8C3C53B6-CAC2-96FE-2178-38D700259527}"/>
              </a:ext>
            </a:extLst>
          </p:cNvPr>
          <p:cNvPicPr>
            <a:picLocks noGrp="1" noChangeAspect="1"/>
          </p:cNvPicPr>
          <p:nvPr>
            <p:ph idx="1"/>
          </p:nvPr>
        </p:nvPicPr>
        <p:blipFill>
          <a:blip r:embed="rId2"/>
          <a:stretch>
            <a:fillRect/>
          </a:stretch>
        </p:blipFill>
        <p:spPr>
          <a:xfrm>
            <a:off x="1813357" y="2603500"/>
            <a:ext cx="7509598" cy="3416300"/>
          </a:xfrm>
          <a:prstGeom prst="rect">
            <a:avLst/>
          </a:prstGeom>
        </p:spPr>
      </p:pic>
    </p:spTree>
    <p:extLst>
      <p:ext uri="{BB962C8B-B14F-4D97-AF65-F5344CB8AC3E}">
        <p14:creationId xmlns:p14="http://schemas.microsoft.com/office/powerpoint/2010/main" val="36192875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5336F-8FE7-3E81-A8B6-88DFD25F1F3E}"/>
              </a:ext>
            </a:extLst>
          </p:cNvPr>
          <p:cNvSpPr>
            <a:spLocks noGrp="1"/>
          </p:cNvSpPr>
          <p:nvPr>
            <p:ph type="title"/>
          </p:nvPr>
        </p:nvSpPr>
        <p:spPr/>
        <p:txBody>
          <a:bodyPr/>
          <a:lstStyle/>
          <a:p>
            <a:pPr algn="ctr"/>
            <a:r>
              <a:rPr lang="en-US" b="1" dirty="0"/>
              <a:t>Voter Dashboard – Available Election</a:t>
            </a:r>
            <a:endParaRPr lang="en-IN" b="1" dirty="0"/>
          </a:p>
        </p:txBody>
      </p:sp>
      <p:pic>
        <p:nvPicPr>
          <p:cNvPr id="5" name="Content Placeholder 4">
            <a:extLst>
              <a:ext uri="{FF2B5EF4-FFF2-40B4-BE49-F238E27FC236}">
                <a16:creationId xmlns:a16="http://schemas.microsoft.com/office/drawing/2014/main" id="{6876E96B-F44C-4DF2-1916-B66402A3EE21}"/>
              </a:ext>
            </a:extLst>
          </p:cNvPr>
          <p:cNvPicPr>
            <a:picLocks noGrp="1" noChangeAspect="1"/>
          </p:cNvPicPr>
          <p:nvPr>
            <p:ph idx="1"/>
          </p:nvPr>
        </p:nvPicPr>
        <p:blipFill>
          <a:blip r:embed="rId2"/>
          <a:stretch>
            <a:fillRect/>
          </a:stretch>
        </p:blipFill>
        <p:spPr>
          <a:xfrm>
            <a:off x="1810227" y="2603500"/>
            <a:ext cx="7515859" cy="3416300"/>
          </a:xfrm>
          <a:prstGeom prst="rect">
            <a:avLst/>
          </a:prstGeom>
        </p:spPr>
      </p:pic>
    </p:spTree>
    <p:extLst>
      <p:ext uri="{BB962C8B-B14F-4D97-AF65-F5344CB8AC3E}">
        <p14:creationId xmlns:p14="http://schemas.microsoft.com/office/powerpoint/2010/main" val="9861469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7E498-03EF-9037-E3C1-C931B5774190}"/>
              </a:ext>
            </a:extLst>
          </p:cNvPr>
          <p:cNvSpPr>
            <a:spLocks noGrp="1"/>
          </p:cNvSpPr>
          <p:nvPr>
            <p:ph type="title"/>
          </p:nvPr>
        </p:nvSpPr>
        <p:spPr/>
        <p:txBody>
          <a:bodyPr/>
          <a:lstStyle/>
          <a:p>
            <a:r>
              <a:rPr lang="en-US" b="1" dirty="0"/>
              <a:t>Admin Dashboard of Online Voting System</a:t>
            </a:r>
            <a:endParaRPr lang="en-IN" b="1" dirty="0"/>
          </a:p>
        </p:txBody>
      </p:sp>
      <p:pic>
        <p:nvPicPr>
          <p:cNvPr id="5" name="Content Placeholder 4">
            <a:extLst>
              <a:ext uri="{FF2B5EF4-FFF2-40B4-BE49-F238E27FC236}">
                <a16:creationId xmlns:a16="http://schemas.microsoft.com/office/drawing/2014/main" id="{C47AC1BD-9305-331A-81C3-70855BE79355}"/>
              </a:ext>
            </a:extLst>
          </p:cNvPr>
          <p:cNvPicPr>
            <a:picLocks noGrp="1" noChangeAspect="1"/>
          </p:cNvPicPr>
          <p:nvPr>
            <p:ph idx="1"/>
          </p:nvPr>
        </p:nvPicPr>
        <p:blipFill>
          <a:blip r:embed="rId2"/>
          <a:stretch>
            <a:fillRect/>
          </a:stretch>
        </p:blipFill>
        <p:spPr>
          <a:xfrm>
            <a:off x="1830599" y="2603500"/>
            <a:ext cx="7475115" cy="3416300"/>
          </a:xfrm>
          <a:prstGeom prst="rect">
            <a:avLst/>
          </a:prstGeom>
        </p:spPr>
      </p:pic>
    </p:spTree>
    <p:extLst>
      <p:ext uri="{BB962C8B-B14F-4D97-AF65-F5344CB8AC3E}">
        <p14:creationId xmlns:p14="http://schemas.microsoft.com/office/powerpoint/2010/main" val="38309622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89FFE4-3934-D4D4-C733-5F89CC91ADCE}"/>
              </a:ext>
            </a:extLst>
          </p:cNvPr>
          <p:cNvSpPr>
            <a:spLocks noGrp="1"/>
          </p:cNvSpPr>
          <p:nvPr>
            <p:ph type="title"/>
          </p:nvPr>
        </p:nvSpPr>
        <p:spPr/>
        <p:txBody>
          <a:bodyPr/>
          <a:lstStyle/>
          <a:p>
            <a:pPr algn="ctr"/>
            <a:r>
              <a:rPr lang="en-IN" b="1" dirty="0"/>
              <a:t>Future Scope</a:t>
            </a:r>
          </a:p>
        </p:txBody>
      </p:sp>
      <p:sp>
        <p:nvSpPr>
          <p:cNvPr id="3" name="Content Placeholder 2">
            <a:extLst>
              <a:ext uri="{FF2B5EF4-FFF2-40B4-BE49-F238E27FC236}">
                <a16:creationId xmlns:a16="http://schemas.microsoft.com/office/drawing/2014/main" id="{07667CB1-1A67-1D4C-07B0-0B8D92CECBFA}"/>
              </a:ext>
            </a:extLst>
          </p:cNvPr>
          <p:cNvSpPr>
            <a:spLocks noGrp="1"/>
          </p:cNvSpPr>
          <p:nvPr>
            <p:ph idx="1"/>
          </p:nvPr>
        </p:nvSpPr>
        <p:spPr/>
        <p:txBody>
          <a:bodyPr/>
          <a:lstStyle/>
          <a:p>
            <a:r>
              <a:rPr lang="en-IN" dirty="0"/>
              <a:t>OTP-based login</a:t>
            </a:r>
          </a:p>
          <a:p>
            <a:r>
              <a:rPr lang="en-IN" dirty="0"/>
              <a:t>Biometric authentication</a:t>
            </a:r>
          </a:p>
          <a:p>
            <a:r>
              <a:rPr lang="en-IN" dirty="0"/>
              <a:t>Blockchain for vote security</a:t>
            </a:r>
          </a:p>
          <a:p>
            <a:r>
              <a:rPr lang="en-IN" dirty="0"/>
              <a:t>Mobile app version</a:t>
            </a:r>
          </a:p>
        </p:txBody>
      </p:sp>
    </p:spTree>
    <p:extLst>
      <p:ext uri="{BB962C8B-B14F-4D97-AF65-F5344CB8AC3E}">
        <p14:creationId xmlns:p14="http://schemas.microsoft.com/office/powerpoint/2010/main" val="16568344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4082D"/>
        </a:solidFill>
        <a:effectLst/>
      </p:bgPr>
    </p:bg>
    <p:spTree>
      <p:nvGrpSpPr>
        <p:cNvPr id="1" name=""/>
        <p:cNvGrpSpPr/>
        <p:nvPr/>
      </p:nvGrpSpPr>
      <p:grpSpPr>
        <a:xfrm>
          <a:off x="0" y="0"/>
          <a:ext cx="0" cy="0"/>
          <a:chOff x="0" y="0"/>
          <a:chExt cx="0" cy="0"/>
        </a:xfrm>
      </p:grpSpPr>
      <p:sp>
        <p:nvSpPr>
          <p:cNvPr id="2" name="TextBox 1"/>
          <p:cNvSpPr txBox="1"/>
          <p:nvPr/>
        </p:nvSpPr>
        <p:spPr>
          <a:xfrm>
            <a:off x="594360" y="343190"/>
            <a:ext cx="10972800" cy="594360"/>
          </a:xfrm>
          <a:prstGeom prst="rect">
            <a:avLst/>
          </a:prstGeom>
          <a:noFill/>
        </p:spPr>
        <p:txBody>
          <a:bodyPr wrap="none">
            <a:spAutoFit/>
          </a:bodyPr>
          <a:lstStyle/>
          <a:p>
            <a:pPr>
              <a:defRPr sz="2800" b="1">
                <a:solidFill>
                  <a:srgbClr val="FFFFFF"/>
                </a:solidFill>
                <a:latin typeface="Aptos Display"/>
              </a:defRPr>
            </a:pPr>
            <a:r>
              <a:rPr dirty="0"/>
              <a:t>Kubernetes Deployment Architecture</a:t>
            </a:r>
          </a:p>
        </p:txBody>
      </p:sp>
      <p:sp>
        <p:nvSpPr>
          <p:cNvPr id="3" name="TextBox 2"/>
          <p:cNvSpPr txBox="1"/>
          <p:nvPr/>
        </p:nvSpPr>
        <p:spPr>
          <a:xfrm>
            <a:off x="621792" y="932688"/>
            <a:ext cx="10698480" cy="365760"/>
          </a:xfrm>
          <a:prstGeom prst="rect">
            <a:avLst/>
          </a:prstGeom>
          <a:noFill/>
        </p:spPr>
        <p:txBody>
          <a:bodyPr wrap="none">
            <a:spAutoFit/>
          </a:bodyPr>
          <a:lstStyle/>
          <a:p>
            <a:pPr>
              <a:defRPr sz="1200">
                <a:solidFill>
                  <a:srgbClr val="BEB2DC"/>
                </a:solidFill>
                <a:latin typeface="Aptos"/>
              </a:defRPr>
            </a:pPr>
            <a:r>
              <a:t>Docker image from Docker Hub deployed as Pods inside the Kubernetes cluster</a:t>
            </a:r>
          </a:p>
        </p:txBody>
      </p:sp>
      <p:sp>
        <p:nvSpPr>
          <p:cNvPr id="4" name="Rounded Rectangle 3"/>
          <p:cNvSpPr/>
          <p:nvPr/>
        </p:nvSpPr>
        <p:spPr>
          <a:xfrm>
            <a:off x="502920" y="1508760"/>
            <a:ext cx="1508760" cy="731520"/>
          </a:xfrm>
          <a:prstGeom prst="roundRect">
            <a:avLst/>
          </a:prstGeom>
          <a:solidFill>
            <a:srgbClr val="26114C"/>
          </a:solidFill>
          <a:ln>
            <a:solidFill>
              <a:srgbClr val="4E9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Developer</a:t>
            </a:r>
          </a:p>
        </p:txBody>
      </p:sp>
      <p:sp>
        <p:nvSpPr>
          <p:cNvPr id="5" name="Rounded Rectangle 4"/>
          <p:cNvSpPr/>
          <p:nvPr/>
        </p:nvSpPr>
        <p:spPr>
          <a:xfrm>
            <a:off x="2331720" y="1508760"/>
            <a:ext cx="1508760" cy="731520"/>
          </a:xfrm>
          <a:prstGeom prst="roundRect">
            <a:avLst/>
          </a:prstGeom>
          <a:solidFill>
            <a:srgbClr val="26114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GitHub</a:t>
            </a:r>
          </a:p>
        </p:txBody>
      </p:sp>
      <p:sp>
        <p:nvSpPr>
          <p:cNvPr id="6" name="Rounded Rectangle 5"/>
          <p:cNvSpPr/>
          <p:nvPr/>
        </p:nvSpPr>
        <p:spPr>
          <a:xfrm>
            <a:off x="4160520" y="1508760"/>
            <a:ext cx="1600200" cy="731520"/>
          </a:xfrm>
          <a:prstGeom prst="roundRect">
            <a:avLst/>
          </a:prstGeom>
          <a:solidFill>
            <a:srgbClr val="26114C"/>
          </a:solidFill>
          <a:ln>
            <a:solidFill>
              <a:srgbClr val="F597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Docker Image</a:t>
            </a:r>
          </a:p>
        </p:txBody>
      </p:sp>
      <p:sp>
        <p:nvSpPr>
          <p:cNvPr id="7" name="Rounded Rectangle 6"/>
          <p:cNvSpPr/>
          <p:nvPr/>
        </p:nvSpPr>
        <p:spPr>
          <a:xfrm>
            <a:off x="6080760" y="1508760"/>
            <a:ext cx="1600200" cy="731520"/>
          </a:xfrm>
          <a:prstGeom prst="roundRect">
            <a:avLst/>
          </a:prstGeom>
          <a:solidFill>
            <a:srgbClr val="26114C"/>
          </a:solidFill>
          <a:ln>
            <a:solidFill>
              <a:srgbClr val="43BE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Docker Hub</a:t>
            </a:r>
          </a:p>
        </p:txBody>
      </p:sp>
      <p:sp>
        <p:nvSpPr>
          <p:cNvPr id="8" name="Rounded Rectangle 7"/>
          <p:cNvSpPr/>
          <p:nvPr/>
        </p:nvSpPr>
        <p:spPr>
          <a:xfrm>
            <a:off x="8046720" y="1508760"/>
            <a:ext cx="1828800" cy="731520"/>
          </a:xfrm>
          <a:prstGeom prst="roundRect">
            <a:avLst/>
          </a:prstGeom>
          <a:solidFill>
            <a:srgbClr val="26114C"/>
          </a:solidFill>
          <a:ln>
            <a:solidFill>
              <a:srgbClr val="975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Kubernetes</a:t>
            </a:r>
            <a:br/>
            <a:r>
              <a:t>Cluster</a:t>
            </a:r>
          </a:p>
        </p:txBody>
      </p:sp>
      <p:cxnSp>
        <p:nvCxnSpPr>
          <p:cNvPr id="9" name="Connector 8"/>
          <p:cNvCxnSpPr/>
          <p:nvPr/>
        </p:nvCxnSpPr>
        <p:spPr>
          <a:xfrm>
            <a:off x="2011680" y="1874519"/>
            <a:ext cx="320040" cy="0"/>
          </a:xfrm>
          <a:prstGeom prst="line">
            <a:avLst/>
          </a:prstGeom>
          <a:ln w="25400">
            <a:solidFill>
              <a:srgbClr val="BEB2D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840479" y="1874519"/>
            <a:ext cx="320041" cy="0"/>
          </a:xfrm>
          <a:prstGeom prst="line">
            <a:avLst/>
          </a:prstGeom>
          <a:ln w="25400">
            <a:solidFill>
              <a:srgbClr val="BEB2D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60720" y="1874519"/>
            <a:ext cx="320040" cy="0"/>
          </a:xfrm>
          <a:prstGeom prst="line">
            <a:avLst/>
          </a:prstGeom>
          <a:ln w="25400">
            <a:solidFill>
              <a:srgbClr val="BEB2D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80960" y="1874519"/>
            <a:ext cx="365760" cy="0"/>
          </a:xfrm>
          <a:prstGeom prst="line">
            <a:avLst/>
          </a:prstGeom>
          <a:ln w="25400">
            <a:solidFill>
              <a:srgbClr val="BEB2DC"/>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3154680"/>
            <a:ext cx="2011680" cy="777240"/>
          </a:xfrm>
          <a:prstGeom prst="roundRect">
            <a:avLst/>
          </a:prstGeom>
          <a:solidFill>
            <a:srgbClr val="26114C"/>
          </a:solidFill>
          <a:ln>
            <a:solidFill>
              <a:srgbClr val="975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Deployment</a:t>
            </a:r>
          </a:p>
        </p:txBody>
      </p:sp>
      <p:sp>
        <p:nvSpPr>
          <p:cNvPr id="14" name="Rounded Rectangle 13"/>
          <p:cNvSpPr/>
          <p:nvPr/>
        </p:nvSpPr>
        <p:spPr>
          <a:xfrm>
            <a:off x="3474720" y="3154680"/>
            <a:ext cx="2011680" cy="777240"/>
          </a:xfrm>
          <a:prstGeom prst="roundRect">
            <a:avLst/>
          </a:prstGeom>
          <a:solidFill>
            <a:srgbClr val="26114C"/>
          </a:solidFill>
          <a:ln>
            <a:solidFill>
              <a:srgbClr val="4E9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Pod 1</a:t>
            </a:r>
          </a:p>
        </p:txBody>
      </p:sp>
      <p:sp>
        <p:nvSpPr>
          <p:cNvPr id="15" name="Rounded Rectangle 14"/>
          <p:cNvSpPr/>
          <p:nvPr/>
        </p:nvSpPr>
        <p:spPr>
          <a:xfrm>
            <a:off x="6035040" y="3154680"/>
            <a:ext cx="2011680" cy="777240"/>
          </a:xfrm>
          <a:prstGeom prst="roundRect">
            <a:avLst/>
          </a:prstGeom>
          <a:solidFill>
            <a:srgbClr val="26114C"/>
          </a:solidFill>
          <a:ln>
            <a:solidFill>
              <a:srgbClr val="43BE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Pod 2</a:t>
            </a:r>
          </a:p>
        </p:txBody>
      </p:sp>
      <p:sp>
        <p:nvSpPr>
          <p:cNvPr id="16" name="Rounded Rectangle 15"/>
          <p:cNvSpPr/>
          <p:nvPr/>
        </p:nvSpPr>
        <p:spPr>
          <a:xfrm>
            <a:off x="8595360" y="3154680"/>
            <a:ext cx="2011680" cy="777240"/>
          </a:xfrm>
          <a:prstGeom prst="roundRect">
            <a:avLst/>
          </a:prstGeom>
          <a:solidFill>
            <a:srgbClr val="26114C"/>
          </a:solidFill>
          <a:ln>
            <a:solidFill>
              <a:srgbClr val="F597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Service</a:t>
            </a:r>
          </a:p>
        </p:txBody>
      </p:sp>
      <p:cxnSp>
        <p:nvCxnSpPr>
          <p:cNvPr id="17" name="Connector 16"/>
          <p:cNvCxnSpPr/>
          <p:nvPr/>
        </p:nvCxnSpPr>
        <p:spPr>
          <a:xfrm>
            <a:off x="2926080" y="3538728"/>
            <a:ext cx="548640" cy="0"/>
          </a:xfrm>
          <a:prstGeom prst="line">
            <a:avLst/>
          </a:prstGeom>
          <a:ln w="25400">
            <a:solidFill>
              <a:srgbClr val="BEB2D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486400" y="3538728"/>
            <a:ext cx="548640" cy="0"/>
          </a:xfrm>
          <a:prstGeom prst="line">
            <a:avLst/>
          </a:prstGeom>
          <a:ln w="25400">
            <a:solidFill>
              <a:srgbClr val="BEB2D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046720" y="3538728"/>
            <a:ext cx="548640" cy="0"/>
          </a:xfrm>
          <a:prstGeom prst="line">
            <a:avLst/>
          </a:prstGeom>
          <a:ln w="25400">
            <a:solidFill>
              <a:srgbClr val="BEB2D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14400" y="4434840"/>
            <a:ext cx="2926080" cy="1234440"/>
          </a:xfrm>
          <a:prstGeom prst="roundRect">
            <a:avLst/>
          </a:prstGeom>
          <a:solidFill>
            <a:srgbClr val="26114C"/>
          </a:solidFill>
          <a:ln>
            <a:solidFill>
              <a:srgbClr val="975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78992" y="4553712"/>
            <a:ext cx="2606040" cy="347472"/>
          </a:xfrm>
          <a:prstGeom prst="rect">
            <a:avLst/>
          </a:prstGeom>
          <a:noFill/>
        </p:spPr>
        <p:txBody>
          <a:bodyPr wrap="none">
            <a:spAutoFit/>
          </a:bodyPr>
          <a:lstStyle/>
          <a:p>
            <a:pPr>
              <a:defRPr sz="1500" b="1">
                <a:solidFill>
                  <a:srgbClr val="FFFFFF"/>
                </a:solidFill>
                <a:latin typeface="Aptos"/>
              </a:defRPr>
            </a:pPr>
            <a:r>
              <a:t>Deployment</a:t>
            </a:r>
          </a:p>
        </p:txBody>
      </p:sp>
      <p:sp>
        <p:nvSpPr>
          <p:cNvPr id="22" name="TextBox 21"/>
          <p:cNvSpPr txBox="1"/>
          <p:nvPr/>
        </p:nvSpPr>
        <p:spPr>
          <a:xfrm>
            <a:off x="1078992" y="4937759"/>
            <a:ext cx="2606040" cy="612648"/>
          </a:xfrm>
          <a:prstGeom prst="rect">
            <a:avLst/>
          </a:prstGeom>
          <a:noFill/>
        </p:spPr>
        <p:txBody>
          <a:bodyPr wrap="square">
            <a:spAutoFit/>
          </a:bodyPr>
          <a:lstStyle/>
          <a:p>
            <a:pPr>
              <a:spcAft>
                <a:spcPts val="400"/>
              </a:spcAft>
              <a:defRPr sz="1050">
                <a:solidFill>
                  <a:srgbClr val="EBE5FA"/>
                </a:solidFill>
                <a:latin typeface="Aptos"/>
              </a:defRPr>
            </a:pPr>
            <a:r>
              <a:t>Maintains desired Pod state and manages application updates.</a:t>
            </a:r>
          </a:p>
        </p:txBody>
      </p:sp>
      <p:sp>
        <p:nvSpPr>
          <p:cNvPr id="23" name="Rounded Rectangle 22"/>
          <p:cNvSpPr/>
          <p:nvPr/>
        </p:nvSpPr>
        <p:spPr>
          <a:xfrm>
            <a:off x="4251960" y="4434840"/>
            <a:ext cx="2926080" cy="1234440"/>
          </a:xfrm>
          <a:prstGeom prst="roundRect">
            <a:avLst/>
          </a:prstGeom>
          <a:solidFill>
            <a:srgbClr val="26114C"/>
          </a:solidFill>
          <a:ln>
            <a:solidFill>
              <a:srgbClr val="4E9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16552" y="4553712"/>
            <a:ext cx="2606040" cy="347472"/>
          </a:xfrm>
          <a:prstGeom prst="rect">
            <a:avLst/>
          </a:prstGeom>
          <a:noFill/>
        </p:spPr>
        <p:txBody>
          <a:bodyPr wrap="none">
            <a:spAutoFit/>
          </a:bodyPr>
          <a:lstStyle/>
          <a:p>
            <a:pPr>
              <a:defRPr sz="1500" b="1">
                <a:solidFill>
                  <a:srgbClr val="FFFFFF"/>
                </a:solidFill>
                <a:latin typeface="Aptos"/>
              </a:defRPr>
            </a:pPr>
            <a:r>
              <a:t>Pods</a:t>
            </a:r>
          </a:p>
        </p:txBody>
      </p:sp>
      <p:sp>
        <p:nvSpPr>
          <p:cNvPr id="25" name="TextBox 24"/>
          <p:cNvSpPr txBox="1"/>
          <p:nvPr/>
        </p:nvSpPr>
        <p:spPr>
          <a:xfrm>
            <a:off x="4416552" y="4937759"/>
            <a:ext cx="2606040" cy="612648"/>
          </a:xfrm>
          <a:prstGeom prst="rect">
            <a:avLst/>
          </a:prstGeom>
          <a:noFill/>
        </p:spPr>
        <p:txBody>
          <a:bodyPr wrap="square">
            <a:spAutoFit/>
          </a:bodyPr>
          <a:lstStyle/>
          <a:p>
            <a:pPr>
              <a:spcAft>
                <a:spcPts val="400"/>
              </a:spcAft>
              <a:defRPr sz="1050">
                <a:solidFill>
                  <a:srgbClr val="EBE5FA"/>
                </a:solidFill>
                <a:latin typeface="Aptos"/>
              </a:defRPr>
            </a:pPr>
            <a:r>
              <a:t>Run the containerized PHP application using the Docker image.</a:t>
            </a:r>
          </a:p>
        </p:txBody>
      </p:sp>
      <p:sp>
        <p:nvSpPr>
          <p:cNvPr id="26" name="Rounded Rectangle 25"/>
          <p:cNvSpPr/>
          <p:nvPr/>
        </p:nvSpPr>
        <p:spPr>
          <a:xfrm>
            <a:off x="7589520" y="4434840"/>
            <a:ext cx="2926080" cy="1234440"/>
          </a:xfrm>
          <a:prstGeom prst="roundRect">
            <a:avLst/>
          </a:prstGeom>
          <a:solidFill>
            <a:srgbClr val="26114C"/>
          </a:solidFill>
          <a:ln>
            <a:solidFill>
              <a:srgbClr val="F597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754112" y="4553712"/>
            <a:ext cx="2606040" cy="347472"/>
          </a:xfrm>
          <a:prstGeom prst="rect">
            <a:avLst/>
          </a:prstGeom>
          <a:noFill/>
        </p:spPr>
        <p:txBody>
          <a:bodyPr wrap="none">
            <a:spAutoFit/>
          </a:bodyPr>
          <a:lstStyle/>
          <a:p>
            <a:pPr>
              <a:defRPr sz="1500" b="1">
                <a:solidFill>
                  <a:srgbClr val="FFFFFF"/>
                </a:solidFill>
                <a:latin typeface="Aptos"/>
              </a:defRPr>
            </a:pPr>
            <a:r>
              <a:t>Service</a:t>
            </a:r>
          </a:p>
        </p:txBody>
      </p:sp>
      <p:sp>
        <p:nvSpPr>
          <p:cNvPr id="28" name="TextBox 27"/>
          <p:cNvSpPr txBox="1"/>
          <p:nvPr/>
        </p:nvSpPr>
        <p:spPr>
          <a:xfrm>
            <a:off x="7754112" y="4937759"/>
            <a:ext cx="2606040" cy="612648"/>
          </a:xfrm>
          <a:prstGeom prst="rect">
            <a:avLst/>
          </a:prstGeom>
          <a:noFill/>
        </p:spPr>
        <p:txBody>
          <a:bodyPr wrap="square">
            <a:spAutoFit/>
          </a:bodyPr>
          <a:lstStyle/>
          <a:p>
            <a:pPr>
              <a:spcAft>
                <a:spcPts val="400"/>
              </a:spcAft>
              <a:defRPr sz="1050">
                <a:solidFill>
                  <a:srgbClr val="EBE5FA"/>
                </a:solidFill>
                <a:latin typeface="Aptos"/>
              </a:defRPr>
            </a:pPr>
            <a:r>
              <a:t>Provides stable access to Pods and forwards requests to available Pods.</a:t>
            </a:r>
          </a:p>
        </p:txBody>
      </p:sp>
      <p:sp>
        <p:nvSpPr>
          <p:cNvPr id="29" name="TextBox 28"/>
          <p:cNvSpPr txBox="1"/>
          <p:nvPr/>
        </p:nvSpPr>
        <p:spPr>
          <a:xfrm>
            <a:off x="594360" y="6565392"/>
            <a:ext cx="10972800" cy="182880"/>
          </a:xfrm>
          <a:prstGeom prst="rect">
            <a:avLst/>
          </a:prstGeom>
          <a:noFill/>
        </p:spPr>
        <p:txBody>
          <a:bodyPr wrap="none">
            <a:spAutoFit/>
          </a:bodyPr>
          <a:lstStyle/>
          <a:p>
            <a:pPr>
              <a:defRPr sz="900">
                <a:solidFill>
                  <a:srgbClr val="BEB2DC"/>
                </a:solidFill>
                <a:latin typeface="Aptos"/>
              </a:defRPr>
            </a:pPr>
            <a:r>
              <a:t>VoteSecure • Kubernetes Deployment • 20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565F91-D9A3-235E-365E-1008A962F918}"/>
              </a:ext>
            </a:extLst>
          </p:cNvPr>
          <p:cNvPicPr>
            <a:picLocks noChangeAspect="1"/>
          </p:cNvPicPr>
          <p:nvPr/>
        </p:nvPicPr>
        <p:blipFill>
          <a:blip r:embed="rId2"/>
          <a:stretch>
            <a:fillRect/>
          </a:stretch>
        </p:blipFill>
        <p:spPr>
          <a:xfrm>
            <a:off x="952500" y="0"/>
            <a:ext cx="10287000" cy="6858000"/>
          </a:xfrm>
          <a:prstGeom prst="rect">
            <a:avLst/>
          </a:prstGeom>
        </p:spPr>
      </p:pic>
    </p:spTree>
    <p:extLst>
      <p:ext uri="{BB962C8B-B14F-4D97-AF65-F5344CB8AC3E}">
        <p14:creationId xmlns:p14="http://schemas.microsoft.com/office/powerpoint/2010/main" val="12611434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4082D"/>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FFFFFF"/>
                </a:solidFill>
                <a:latin typeface="Aptos Display"/>
              </a:defRPr>
            </a:pPr>
            <a:r>
              <a:t>Kubernetes Components Used for Deployment</a:t>
            </a:r>
          </a:p>
        </p:txBody>
      </p:sp>
      <p:sp>
        <p:nvSpPr>
          <p:cNvPr id="3" name="TextBox 2"/>
          <p:cNvSpPr txBox="1"/>
          <p:nvPr/>
        </p:nvSpPr>
        <p:spPr>
          <a:xfrm>
            <a:off x="621792" y="932688"/>
            <a:ext cx="10698480" cy="365760"/>
          </a:xfrm>
          <a:prstGeom prst="rect">
            <a:avLst/>
          </a:prstGeom>
          <a:noFill/>
        </p:spPr>
        <p:txBody>
          <a:bodyPr wrap="none">
            <a:spAutoFit/>
          </a:bodyPr>
          <a:lstStyle/>
          <a:p>
            <a:pPr>
              <a:defRPr sz="1200">
                <a:solidFill>
                  <a:srgbClr val="BEB2DC"/>
                </a:solidFill>
                <a:latin typeface="Aptos"/>
              </a:defRPr>
            </a:pPr>
            <a:r>
              <a:t>Theory required to explain the Kubernetes deployment</a:t>
            </a:r>
          </a:p>
        </p:txBody>
      </p:sp>
      <p:sp>
        <p:nvSpPr>
          <p:cNvPr id="4" name="Rounded Rectangle 3"/>
          <p:cNvSpPr/>
          <p:nvPr/>
        </p:nvSpPr>
        <p:spPr>
          <a:xfrm>
            <a:off x="640080" y="1325880"/>
            <a:ext cx="3429000" cy="1874519"/>
          </a:xfrm>
          <a:prstGeom prst="roundRect">
            <a:avLst/>
          </a:prstGeom>
          <a:solidFill>
            <a:srgbClr val="26114C"/>
          </a:solidFill>
          <a:ln>
            <a:solidFill>
              <a:srgbClr val="4E9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04671" y="1444752"/>
            <a:ext cx="3108960" cy="347472"/>
          </a:xfrm>
          <a:prstGeom prst="rect">
            <a:avLst/>
          </a:prstGeom>
          <a:noFill/>
        </p:spPr>
        <p:txBody>
          <a:bodyPr wrap="none">
            <a:spAutoFit/>
          </a:bodyPr>
          <a:lstStyle/>
          <a:p>
            <a:pPr>
              <a:defRPr sz="1500" b="1">
                <a:solidFill>
                  <a:srgbClr val="FFFFFF"/>
                </a:solidFill>
                <a:latin typeface="Aptos"/>
              </a:defRPr>
            </a:pPr>
            <a:r>
              <a:t>Pod</a:t>
            </a:r>
          </a:p>
        </p:txBody>
      </p:sp>
      <p:sp>
        <p:nvSpPr>
          <p:cNvPr id="6" name="TextBox 5"/>
          <p:cNvSpPr txBox="1"/>
          <p:nvPr/>
        </p:nvSpPr>
        <p:spPr>
          <a:xfrm>
            <a:off x="804671" y="1828800"/>
            <a:ext cx="3108960" cy="1252727"/>
          </a:xfrm>
          <a:prstGeom prst="rect">
            <a:avLst/>
          </a:prstGeom>
          <a:noFill/>
        </p:spPr>
        <p:txBody>
          <a:bodyPr wrap="square">
            <a:spAutoFit/>
          </a:bodyPr>
          <a:lstStyle/>
          <a:p>
            <a:pPr>
              <a:spcAft>
                <a:spcPts val="400"/>
              </a:spcAft>
              <a:defRPr sz="1050">
                <a:solidFill>
                  <a:srgbClr val="EBE5FA"/>
                </a:solidFill>
                <a:latin typeface="Aptos"/>
              </a:defRPr>
            </a:pPr>
            <a:r>
              <a:t>Smallest deployable unit in Kubernetes.</a:t>
            </a:r>
          </a:p>
          <a:p>
            <a:pPr>
              <a:spcAft>
                <a:spcPts val="400"/>
              </a:spcAft>
              <a:defRPr sz="1050">
                <a:solidFill>
                  <a:srgbClr val="EBE5FA"/>
                </a:solidFill>
                <a:latin typeface="Aptos"/>
              </a:defRPr>
            </a:pPr>
            <a:r>
              <a:t>Runs the application container.</a:t>
            </a:r>
          </a:p>
        </p:txBody>
      </p:sp>
      <p:sp>
        <p:nvSpPr>
          <p:cNvPr id="7" name="Rounded Rectangle 6"/>
          <p:cNvSpPr/>
          <p:nvPr/>
        </p:nvSpPr>
        <p:spPr>
          <a:xfrm>
            <a:off x="4389120" y="1325880"/>
            <a:ext cx="3429000" cy="1874519"/>
          </a:xfrm>
          <a:prstGeom prst="roundRect">
            <a:avLst/>
          </a:prstGeom>
          <a:solidFill>
            <a:srgbClr val="26114C"/>
          </a:solidFill>
          <a:ln>
            <a:solidFill>
              <a:srgbClr val="975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53712" y="1444752"/>
            <a:ext cx="3108960" cy="347472"/>
          </a:xfrm>
          <a:prstGeom prst="rect">
            <a:avLst/>
          </a:prstGeom>
          <a:noFill/>
        </p:spPr>
        <p:txBody>
          <a:bodyPr wrap="none">
            <a:spAutoFit/>
          </a:bodyPr>
          <a:lstStyle/>
          <a:p>
            <a:pPr>
              <a:defRPr sz="1500" b="1">
                <a:solidFill>
                  <a:srgbClr val="FFFFFF"/>
                </a:solidFill>
                <a:latin typeface="Aptos"/>
              </a:defRPr>
            </a:pPr>
            <a:r>
              <a:t>Deployment</a:t>
            </a:r>
          </a:p>
        </p:txBody>
      </p:sp>
      <p:sp>
        <p:nvSpPr>
          <p:cNvPr id="9" name="TextBox 8"/>
          <p:cNvSpPr txBox="1"/>
          <p:nvPr/>
        </p:nvSpPr>
        <p:spPr>
          <a:xfrm>
            <a:off x="4553712" y="1828800"/>
            <a:ext cx="3108960" cy="1252727"/>
          </a:xfrm>
          <a:prstGeom prst="rect">
            <a:avLst/>
          </a:prstGeom>
          <a:noFill/>
        </p:spPr>
        <p:txBody>
          <a:bodyPr wrap="square">
            <a:spAutoFit/>
          </a:bodyPr>
          <a:lstStyle/>
          <a:p>
            <a:pPr>
              <a:spcAft>
                <a:spcPts val="400"/>
              </a:spcAft>
              <a:defRPr sz="1050">
                <a:solidFill>
                  <a:srgbClr val="EBE5FA"/>
                </a:solidFill>
                <a:latin typeface="Aptos"/>
              </a:defRPr>
            </a:pPr>
            <a:r>
              <a:t>Defines desired application state.</a:t>
            </a:r>
          </a:p>
          <a:p>
            <a:pPr>
              <a:spcAft>
                <a:spcPts val="400"/>
              </a:spcAft>
              <a:defRPr sz="1050">
                <a:solidFill>
                  <a:srgbClr val="EBE5FA"/>
                </a:solidFill>
                <a:latin typeface="Aptos"/>
              </a:defRPr>
            </a:pPr>
            <a:r>
              <a:t>Creates and manages Pods.</a:t>
            </a:r>
          </a:p>
          <a:p>
            <a:pPr>
              <a:spcAft>
                <a:spcPts val="400"/>
              </a:spcAft>
              <a:defRPr sz="1050">
                <a:solidFill>
                  <a:srgbClr val="EBE5FA"/>
                </a:solidFill>
                <a:latin typeface="Aptos"/>
              </a:defRPr>
            </a:pPr>
            <a:r>
              <a:t>Supports controlled updates.</a:t>
            </a:r>
          </a:p>
        </p:txBody>
      </p:sp>
      <p:sp>
        <p:nvSpPr>
          <p:cNvPr id="10" name="Rounded Rectangle 9"/>
          <p:cNvSpPr/>
          <p:nvPr/>
        </p:nvSpPr>
        <p:spPr>
          <a:xfrm>
            <a:off x="8138160" y="1325880"/>
            <a:ext cx="3429000" cy="1874519"/>
          </a:xfrm>
          <a:prstGeom prst="roundRect">
            <a:avLst/>
          </a:prstGeom>
          <a:solidFill>
            <a:srgbClr val="26114C"/>
          </a:solidFill>
          <a:ln>
            <a:solidFill>
              <a:srgbClr val="F597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02752" y="1444752"/>
            <a:ext cx="3108960" cy="347472"/>
          </a:xfrm>
          <a:prstGeom prst="rect">
            <a:avLst/>
          </a:prstGeom>
          <a:noFill/>
        </p:spPr>
        <p:txBody>
          <a:bodyPr wrap="none">
            <a:spAutoFit/>
          </a:bodyPr>
          <a:lstStyle/>
          <a:p>
            <a:pPr>
              <a:defRPr sz="1500" b="1">
                <a:solidFill>
                  <a:srgbClr val="FFFFFF"/>
                </a:solidFill>
                <a:latin typeface="Aptos"/>
              </a:defRPr>
            </a:pPr>
            <a:r>
              <a:t>Service</a:t>
            </a:r>
          </a:p>
        </p:txBody>
      </p:sp>
      <p:sp>
        <p:nvSpPr>
          <p:cNvPr id="12" name="TextBox 11"/>
          <p:cNvSpPr txBox="1"/>
          <p:nvPr/>
        </p:nvSpPr>
        <p:spPr>
          <a:xfrm>
            <a:off x="8302752" y="1828800"/>
            <a:ext cx="3108960" cy="1252727"/>
          </a:xfrm>
          <a:prstGeom prst="rect">
            <a:avLst/>
          </a:prstGeom>
          <a:noFill/>
        </p:spPr>
        <p:txBody>
          <a:bodyPr wrap="square">
            <a:spAutoFit/>
          </a:bodyPr>
          <a:lstStyle/>
          <a:p>
            <a:pPr>
              <a:spcAft>
                <a:spcPts val="400"/>
              </a:spcAft>
              <a:defRPr sz="1050">
                <a:solidFill>
                  <a:srgbClr val="EBE5FA"/>
                </a:solidFill>
                <a:latin typeface="Aptos"/>
              </a:defRPr>
            </a:pPr>
            <a:r>
              <a:t>Provides a stable endpoint for Pods.</a:t>
            </a:r>
          </a:p>
          <a:p>
            <a:pPr>
              <a:spcAft>
                <a:spcPts val="400"/>
              </a:spcAft>
              <a:defRPr sz="1050">
                <a:solidFill>
                  <a:srgbClr val="EBE5FA"/>
                </a:solidFill>
                <a:latin typeface="Aptos"/>
              </a:defRPr>
            </a:pPr>
            <a:r>
              <a:t>Selects Pods using labels and forwards traffic.</a:t>
            </a:r>
          </a:p>
        </p:txBody>
      </p:sp>
      <p:sp>
        <p:nvSpPr>
          <p:cNvPr id="13" name="Rounded Rectangle 12"/>
          <p:cNvSpPr/>
          <p:nvPr/>
        </p:nvSpPr>
        <p:spPr>
          <a:xfrm>
            <a:off x="640080" y="3566160"/>
            <a:ext cx="3429000" cy="1874519"/>
          </a:xfrm>
          <a:prstGeom prst="roundRect">
            <a:avLst/>
          </a:prstGeom>
          <a:solidFill>
            <a:srgbClr val="26114C"/>
          </a:solidFill>
          <a:ln>
            <a:solidFill>
              <a:srgbClr val="43BE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4671" y="3685032"/>
            <a:ext cx="3108960" cy="347472"/>
          </a:xfrm>
          <a:prstGeom prst="rect">
            <a:avLst/>
          </a:prstGeom>
          <a:noFill/>
        </p:spPr>
        <p:txBody>
          <a:bodyPr wrap="none">
            <a:spAutoFit/>
          </a:bodyPr>
          <a:lstStyle/>
          <a:p>
            <a:pPr>
              <a:defRPr sz="1500" b="1">
                <a:solidFill>
                  <a:srgbClr val="FFFFFF"/>
                </a:solidFill>
                <a:latin typeface="Aptos"/>
              </a:defRPr>
            </a:pPr>
            <a:r>
              <a:t>Container Image</a:t>
            </a:r>
          </a:p>
        </p:txBody>
      </p:sp>
      <p:sp>
        <p:nvSpPr>
          <p:cNvPr id="15" name="TextBox 14"/>
          <p:cNvSpPr txBox="1"/>
          <p:nvPr/>
        </p:nvSpPr>
        <p:spPr>
          <a:xfrm>
            <a:off x="804671" y="4069080"/>
            <a:ext cx="3108960" cy="1252727"/>
          </a:xfrm>
          <a:prstGeom prst="rect">
            <a:avLst/>
          </a:prstGeom>
          <a:noFill/>
        </p:spPr>
        <p:txBody>
          <a:bodyPr wrap="square">
            <a:spAutoFit/>
          </a:bodyPr>
          <a:lstStyle/>
          <a:p>
            <a:pPr>
              <a:spcAft>
                <a:spcPts val="400"/>
              </a:spcAft>
              <a:defRPr sz="1050">
                <a:solidFill>
                  <a:srgbClr val="EBE5FA"/>
                </a:solidFill>
                <a:latin typeface="Aptos"/>
              </a:defRPr>
            </a:pPr>
            <a:r>
              <a:t>Docker image contains the application and runtime components.</a:t>
            </a:r>
          </a:p>
          <a:p>
            <a:pPr>
              <a:spcAft>
                <a:spcPts val="400"/>
              </a:spcAft>
              <a:defRPr sz="1050">
                <a:solidFill>
                  <a:srgbClr val="EBE5FA"/>
                </a:solidFill>
                <a:latin typeface="Aptos"/>
              </a:defRPr>
            </a:pPr>
            <a:r>
              <a:t>Kubernetes pulls the image from Docker Hub.</a:t>
            </a:r>
          </a:p>
        </p:txBody>
      </p:sp>
      <p:sp>
        <p:nvSpPr>
          <p:cNvPr id="16" name="Rounded Rectangle 15"/>
          <p:cNvSpPr/>
          <p:nvPr/>
        </p:nvSpPr>
        <p:spPr>
          <a:xfrm>
            <a:off x="4389120" y="3566160"/>
            <a:ext cx="3429000" cy="1874519"/>
          </a:xfrm>
          <a:prstGeom prst="roundRect">
            <a:avLst/>
          </a:prstGeom>
          <a:solidFill>
            <a:srgbClr val="26114C"/>
          </a:solidFill>
          <a:ln>
            <a:solidFill>
              <a:srgbClr val="4E9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53712" y="3685032"/>
            <a:ext cx="3108960" cy="347472"/>
          </a:xfrm>
          <a:prstGeom prst="rect">
            <a:avLst/>
          </a:prstGeom>
          <a:noFill/>
        </p:spPr>
        <p:txBody>
          <a:bodyPr wrap="none">
            <a:spAutoFit/>
          </a:bodyPr>
          <a:lstStyle/>
          <a:p>
            <a:pPr>
              <a:defRPr sz="1500" b="1">
                <a:solidFill>
                  <a:srgbClr val="FFFFFF"/>
                </a:solidFill>
                <a:latin typeface="Aptos"/>
              </a:defRPr>
            </a:pPr>
            <a:r>
              <a:t>Labels</a:t>
            </a:r>
          </a:p>
        </p:txBody>
      </p:sp>
      <p:sp>
        <p:nvSpPr>
          <p:cNvPr id="18" name="TextBox 17"/>
          <p:cNvSpPr txBox="1"/>
          <p:nvPr/>
        </p:nvSpPr>
        <p:spPr>
          <a:xfrm>
            <a:off x="4553712" y="4069080"/>
            <a:ext cx="3108960" cy="1252727"/>
          </a:xfrm>
          <a:prstGeom prst="rect">
            <a:avLst/>
          </a:prstGeom>
          <a:noFill/>
        </p:spPr>
        <p:txBody>
          <a:bodyPr wrap="square">
            <a:spAutoFit/>
          </a:bodyPr>
          <a:lstStyle/>
          <a:p>
            <a:pPr>
              <a:spcAft>
                <a:spcPts val="400"/>
              </a:spcAft>
              <a:defRPr sz="1050">
                <a:solidFill>
                  <a:srgbClr val="EBE5FA"/>
                </a:solidFill>
                <a:latin typeface="Aptos"/>
              </a:defRPr>
            </a:pPr>
            <a:r>
              <a:t>Labels identify application Pods and allow Services to select the correct Pods.</a:t>
            </a:r>
          </a:p>
        </p:txBody>
      </p:sp>
      <p:sp>
        <p:nvSpPr>
          <p:cNvPr id="19" name="Rounded Rectangle 18"/>
          <p:cNvSpPr/>
          <p:nvPr/>
        </p:nvSpPr>
        <p:spPr>
          <a:xfrm>
            <a:off x="8138160" y="3566160"/>
            <a:ext cx="3429000" cy="1874519"/>
          </a:xfrm>
          <a:prstGeom prst="roundRect">
            <a:avLst/>
          </a:prstGeom>
          <a:solidFill>
            <a:srgbClr val="26114C"/>
          </a:solidFill>
          <a:ln>
            <a:solidFill>
              <a:srgbClr val="975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02752" y="3685032"/>
            <a:ext cx="3108960" cy="347472"/>
          </a:xfrm>
          <a:prstGeom prst="rect">
            <a:avLst/>
          </a:prstGeom>
          <a:noFill/>
        </p:spPr>
        <p:txBody>
          <a:bodyPr wrap="none">
            <a:spAutoFit/>
          </a:bodyPr>
          <a:lstStyle/>
          <a:p>
            <a:pPr>
              <a:defRPr sz="1500" b="1">
                <a:solidFill>
                  <a:srgbClr val="FFFFFF"/>
                </a:solidFill>
                <a:latin typeface="Aptos"/>
              </a:defRPr>
            </a:pPr>
            <a:r>
              <a:t>Rolling Update</a:t>
            </a:r>
          </a:p>
        </p:txBody>
      </p:sp>
      <p:sp>
        <p:nvSpPr>
          <p:cNvPr id="21" name="TextBox 20"/>
          <p:cNvSpPr txBox="1"/>
          <p:nvPr/>
        </p:nvSpPr>
        <p:spPr>
          <a:xfrm>
            <a:off x="8302752" y="4069080"/>
            <a:ext cx="3108960" cy="1252727"/>
          </a:xfrm>
          <a:prstGeom prst="rect">
            <a:avLst/>
          </a:prstGeom>
          <a:noFill/>
        </p:spPr>
        <p:txBody>
          <a:bodyPr wrap="square">
            <a:spAutoFit/>
          </a:bodyPr>
          <a:lstStyle/>
          <a:p>
            <a:pPr>
              <a:spcAft>
                <a:spcPts val="400"/>
              </a:spcAft>
              <a:defRPr sz="1050">
                <a:solidFill>
                  <a:srgbClr val="EBE5FA"/>
                </a:solidFill>
                <a:latin typeface="Aptos"/>
              </a:defRPr>
            </a:pPr>
            <a:r>
              <a:t>Deployment can replace Pods gradually when a new application image is released.</a:t>
            </a:r>
          </a:p>
        </p:txBody>
      </p:sp>
      <p:sp>
        <p:nvSpPr>
          <p:cNvPr id="22" name="TextBox 21"/>
          <p:cNvSpPr txBox="1"/>
          <p:nvPr/>
        </p:nvSpPr>
        <p:spPr>
          <a:xfrm>
            <a:off x="594360" y="6565392"/>
            <a:ext cx="10972800" cy="182880"/>
          </a:xfrm>
          <a:prstGeom prst="rect">
            <a:avLst/>
          </a:prstGeom>
          <a:noFill/>
        </p:spPr>
        <p:txBody>
          <a:bodyPr wrap="none">
            <a:spAutoFit/>
          </a:bodyPr>
          <a:lstStyle/>
          <a:p>
            <a:pPr>
              <a:defRPr sz="900">
                <a:solidFill>
                  <a:srgbClr val="BEB2DC"/>
                </a:solidFill>
                <a:latin typeface="Aptos"/>
              </a:defRPr>
            </a:pPr>
            <a:r>
              <a:t>VoteSecure • Kubernetes Deployment • 21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4082D"/>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defRPr sz="2800" b="1">
                <a:solidFill>
                  <a:srgbClr val="FFFFFF"/>
                </a:solidFill>
                <a:latin typeface="Aptos Display"/>
              </a:defRPr>
            </a:pPr>
            <a:r>
              <a:rPr dirty="0"/>
              <a:t>Kubernetes Deployment Process</a:t>
            </a:r>
          </a:p>
        </p:txBody>
      </p:sp>
      <p:sp>
        <p:nvSpPr>
          <p:cNvPr id="3" name="TextBox 2"/>
          <p:cNvSpPr txBox="1"/>
          <p:nvPr/>
        </p:nvSpPr>
        <p:spPr>
          <a:xfrm>
            <a:off x="621792" y="932688"/>
            <a:ext cx="10698480" cy="365760"/>
          </a:xfrm>
          <a:prstGeom prst="rect">
            <a:avLst/>
          </a:prstGeom>
          <a:noFill/>
        </p:spPr>
        <p:txBody>
          <a:bodyPr wrap="none">
            <a:spAutoFit/>
          </a:bodyPr>
          <a:lstStyle/>
          <a:p>
            <a:pPr>
              <a:defRPr sz="1200">
                <a:solidFill>
                  <a:srgbClr val="BEB2DC"/>
                </a:solidFill>
                <a:latin typeface="Aptos"/>
              </a:defRPr>
            </a:pPr>
            <a:r>
              <a:t>Step-by-step deployment flow for the containerized voting application</a:t>
            </a:r>
          </a:p>
        </p:txBody>
      </p:sp>
      <p:sp>
        <p:nvSpPr>
          <p:cNvPr id="4" name="Oval 3"/>
          <p:cNvSpPr/>
          <p:nvPr/>
        </p:nvSpPr>
        <p:spPr>
          <a:xfrm>
            <a:off x="640080" y="1417320"/>
            <a:ext cx="530352" cy="530352"/>
          </a:xfrm>
          <a:prstGeom prst="ellipse">
            <a:avLst/>
          </a:prstGeom>
          <a:solidFill>
            <a:srgbClr val="4E9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01</a:t>
            </a:r>
          </a:p>
        </p:txBody>
      </p:sp>
      <p:sp>
        <p:nvSpPr>
          <p:cNvPr id="5" name="TextBox 4"/>
          <p:cNvSpPr txBox="1"/>
          <p:nvPr/>
        </p:nvSpPr>
        <p:spPr>
          <a:xfrm>
            <a:off x="1325880" y="1399032"/>
            <a:ext cx="2926080" cy="365760"/>
          </a:xfrm>
          <a:prstGeom prst="rect">
            <a:avLst/>
          </a:prstGeom>
          <a:noFill/>
        </p:spPr>
        <p:txBody>
          <a:bodyPr wrap="none">
            <a:spAutoFit/>
          </a:bodyPr>
          <a:lstStyle/>
          <a:p>
            <a:pPr>
              <a:defRPr sz="1400" b="1">
                <a:solidFill>
                  <a:srgbClr val="FFFFFF"/>
                </a:solidFill>
              </a:defRPr>
            </a:pPr>
            <a:r>
              <a:t>Build Image</a:t>
            </a:r>
          </a:p>
        </p:txBody>
      </p:sp>
      <p:sp>
        <p:nvSpPr>
          <p:cNvPr id="6" name="TextBox 5"/>
          <p:cNvSpPr txBox="1"/>
          <p:nvPr/>
        </p:nvSpPr>
        <p:spPr>
          <a:xfrm>
            <a:off x="1325880" y="1801368"/>
            <a:ext cx="2926080" cy="868680"/>
          </a:xfrm>
          <a:prstGeom prst="rect">
            <a:avLst/>
          </a:prstGeom>
          <a:noFill/>
        </p:spPr>
        <p:txBody>
          <a:bodyPr wrap="none">
            <a:spAutoFit/>
          </a:bodyPr>
          <a:lstStyle/>
          <a:p>
            <a:pPr>
              <a:defRPr sz="1050">
                <a:solidFill>
                  <a:srgbClr val="EBE5FA"/>
                </a:solidFill>
              </a:defRPr>
            </a:pPr>
            <a:r>
              <a:t>Create the Docker image for the PHP application.</a:t>
            </a:r>
          </a:p>
        </p:txBody>
      </p:sp>
      <p:sp>
        <p:nvSpPr>
          <p:cNvPr id="7" name="Oval 6"/>
          <p:cNvSpPr/>
          <p:nvPr/>
        </p:nvSpPr>
        <p:spPr>
          <a:xfrm>
            <a:off x="4480560" y="1417320"/>
            <a:ext cx="530352" cy="530352"/>
          </a:xfrm>
          <a:prstGeom prst="ellipse">
            <a:avLst/>
          </a:prstGeom>
          <a:solidFill>
            <a:srgbClr val="43B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02</a:t>
            </a:r>
          </a:p>
        </p:txBody>
      </p:sp>
      <p:sp>
        <p:nvSpPr>
          <p:cNvPr id="8" name="TextBox 7"/>
          <p:cNvSpPr txBox="1"/>
          <p:nvPr/>
        </p:nvSpPr>
        <p:spPr>
          <a:xfrm>
            <a:off x="5166360" y="1399032"/>
            <a:ext cx="2926080" cy="365760"/>
          </a:xfrm>
          <a:prstGeom prst="rect">
            <a:avLst/>
          </a:prstGeom>
          <a:noFill/>
        </p:spPr>
        <p:txBody>
          <a:bodyPr wrap="none">
            <a:spAutoFit/>
          </a:bodyPr>
          <a:lstStyle/>
          <a:p>
            <a:pPr>
              <a:defRPr sz="1400" b="1">
                <a:solidFill>
                  <a:srgbClr val="FFFFFF"/>
                </a:solidFill>
              </a:defRPr>
            </a:pPr>
            <a:r>
              <a:t>Docker Hub</a:t>
            </a:r>
          </a:p>
        </p:txBody>
      </p:sp>
      <p:sp>
        <p:nvSpPr>
          <p:cNvPr id="9" name="TextBox 8"/>
          <p:cNvSpPr txBox="1"/>
          <p:nvPr/>
        </p:nvSpPr>
        <p:spPr>
          <a:xfrm>
            <a:off x="5166360" y="1801368"/>
            <a:ext cx="2926080" cy="868680"/>
          </a:xfrm>
          <a:prstGeom prst="rect">
            <a:avLst/>
          </a:prstGeom>
          <a:noFill/>
        </p:spPr>
        <p:txBody>
          <a:bodyPr wrap="none">
            <a:spAutoFit/>
          </a:bodyPr>
          <a:lstStyle/>
          <a:p>
            <a:pPr>
              <a:defRPr sz="1050">
                <a:solidFill>
                  <a:srgbClr val="EBE5FA"/>
                </a:solidFill>
              </a:defRPr>
            </a:pPr>
            <a:r>
              <a:t>Tag and push the image to Docker Hub.</a:t>
            </a:r>
          </a:p>
        </p:txBody>
      </p:sp>
      <p:sp>
        <p:nvSpPr>
          <p:cNvPr id="10" name="Oval 9"/>
          <p:cNvSpPr/>
          <p:nvPr/>
        </p:nvSpPr>
        <p:spPr>
          <a:xfrm>
            <a:off x="8321040" y="1417320"/>
            <a:ext cx="530352" cy="530352"/>
          </a:xfrm>
          <a:prstGeom prst="ellipse">
            <a:avLst/>
          </a:prstGeom>
          <a:solidFill>
            <a:srgbClr val="975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03</a:t>
            </a:r>
          </a:p>
        </p:txBody>
      </p:sp>
      <p:sp>
        <p:nvSpPr>
          <p:cNvPr id="11" name="TextBox 10"/>
          <p:cNvSpPr txBox="1"/>
          <p:nvPr/>
        </p:nvSpPr>
        <p:spPr>
          <a:xfrm>
            <a:off x="9006840" y="1399032"/>
            <a:ext cx="2926080" cy="365760"/>
          </a:xfrm>
          <a:prstGeom prst="rect">
            <a:avLst/>
          </a:prstGeom>
          <a:noFill/>
        </p:spPr>
        <p:txBody>
          <a:bodyPr wrap="none">
            <a:spAutoFit/>
          </a:bodyPr>
          <a:lstStyle/>
          <a:p>
            <a:pPr>
              <a:defRPr sz="1400" b="1">
                <a:solidFill>
                  <a:srgbClr val="FFFFFF"/>
                </a:solidFill>
              </a:defRPr>
            </a:pPr>
            <a:r>
              <a:t>Deployment YAML</a:t>
            </a:r>
          </a:p>
        </p:txBody>
      </p:sp>
      <p:sp>
        <p:nvSpPr>
          <p:cNvPr id="12" name="TextBox 11"/>
          <p:cNvSpPr txBox="1"/>
          <p:nvPr/>
        </p:nvSpPr>
        <p:spPr>
          <a:xfrm>
            <a:off x="9006840" y="1801368"/>
            <a:ext cx="2926080" cy="868680"/>
          </a:xfrm>
          <a:prstGeom prst="rect">
            <a:avLst/>
          </a:prstGeom>
          <a:noFill/>
        </p:spPr>
        <p:txBody>
          <a:bodyPr wrap="none">
            <a:spAutoFit/>
          </a:bodyPr>
          <a:lstStyle/>
          <a:p>
            <a:pPr>
              <a:defRPr sz="1050">
                <a:solidFill>
                  <a:srgbClr val="EBE5FA"/>
                </a:solidFill>
              </a:defRPr>
            </a:pPr>
            <a:r>
              <a:t>Define image, replicas and deployment settings.</a:t>
            </a:r>
          </a:p>
        </p:txBody>
      </p:sp>
      <p:sp>
        <p:nvSpPr>
          <p:cNvPr id="13" name="Oval 12"/>
          <p:cNvSpPr/>
          <p:nvPr/>
        </p:nvSpPr>
        <p:spPr>
          <a:xfrm>
            <a:off x="640080" y="3429000"/>
            <a:ext cx="530352" cy="530352"/>
          </a:xfrm>
          <a:prstGeom prst="ellipse">
            <a:avLst/>
          </a:prstGeom>
          <a:solidFill>
            <a:srgbClr val="4E9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04</a:t>
            </a:r>
          </a:p>
        </p:txBody>
      </p:sp>
      <p:sp>
        <p:nvSpPr>
          <p:cNvPr id="14" name="TextBox 13"/>
          <p:cNvSpPr txBox="1"/>
          <p:nvPr/>
        </p:nvSpPr>
        <p:spPr>
          <a:xfrm>
            <a:off x="1325880" y="3410712"/>
            <a:ext cx="2926080" cy="365760"/>
          </a:xfrm>
          <a:prstGeom prst="rect">
            <a:avLst/>
          </a:prstGeom>
          <a:noFill/>
        </p:spPr>
        <p:txBody>
          <a:bodyPr wrap="none">
            <a:spAutoFit/>
          </a:bodyPr>
          <a:lstStyle/>
          <a:p>
            <a:pPr>
              <a:defRPr sz="1400" b="1">
                <a:solidFill>
                  <a:srgbClr val="FFFFFF"/>
                </a:solidFill>
              </a:defRPr>
            </a:pPr>
            <a:r>
              <a:t>Create Pods</a:t>
            </a:r>
          </a:p>
        </p:txBody>
      </p:sp>
      <p:sp>
        <p:nvSpPr>
          <p:cNvPr id="15" name="TextBox 14"/>
          <p:cNvSpPr txBox="1"/>
          <p:nvPr/>
        </p:nvSpPr>
        <p:spPr>
          <a:xfrm>
            <a:off x="1325880" y="3813048"/>
            <a:ext cx="2926080" cy="868680"/>
          </a:xfrm>
          <a:prstGeom prst="rect">
            <a:avLst/>
          </a:prstGeom>
          <a:noFill/>
        </p:spPr>
        <p:txBody>
          <a:bodyPr wrap="none">
            <a:spAutoFit/>
          </a:bodyPr>
          <a:lstStyle/>
          <a:p>
            <a:pPr>
              <a:defRPr sz="1050">
                <a:solidFill>
                  <a:srgbClr val="EBE5FA"/>
                </a:solidFill>
              </a:defRPr>
            </a:pPr>
            <a:r>
              <a:t>Kubernetes schedules Pods and pulls the image.</a:t>
            </a:r>
          </a:p>
        </p:txBody>
      </p:sp>
      <p:sp>
        <p:nvSpPr>
          <p:cNvPr id="16" name="Oval 15"/>
          <p:cNvSpPr/>
          <p:nvPr/>
        </p:nvSpPr>
        <p:spPr>
          <a:xfrm>
            <a:off x="4480560" y="3429000"/>
            <a:ext cx="530352" cy="530352"/>
          </a:xfrm>
          <a:prstGeom prst="ellipse">
            <a:avLst/>
          </a:prstGeom>
          <a:solidFill>
            <a:srgbClr val="F597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05</a:t>
            </a:r>
          </a:p>
        </p:txBody>
      </p:sp>
      <p:sp>
        <p:nvSpPr>
          <p:cNvPr id="17" name="TextBox 16"/>
          <p:cNvSpPr txBox="1"/>
          <p:nvPr/>
        </p:nvSpPr>
        <p:spPr>
          <a:xfrm>
            <a:off x="5166360" y="3410712"/>
            <a:ext cx="2926080" cy="365760"/>
          </a:xfrm>
          <a:prstGeom prst="rect">
            <a:avLst/>
          </a:prstGeom>
          <a:noFill/>
        </p:spPr>
        <p:txBody>
          <a:bodyPr wrap="none">
            <a:spAutoFit/>
          </a:bodyPr>
          <a:lstStyle/>
          <a:p>
            <a:pPr>
              <a:defRPr sz="1400" b="1">
                <a:solidFill>
                  <a:srgbClr val="FFFFFF"/>
                </a:solidFill>
              </a:defRPr>
            </a:pPr>
            <a:r>
              <a:t>Service YAML</a:t>
            </a:r>
          </a:p>
        </p:txBody>
      </p:sp>
      <p:sp>
        <p:nvSpPr>
          <p:cNvPr id="18" name="TextBox 17"/>
          <p:cNvSpPr txBox="1"/>
          <p:nvPr/>
        </p:nvSpPr>
        <p:spPr>
          <a:xfrm>
            <a:off x="5166360" y="3813048"/>
            <a:ext cx="2926080" cy="868680"/>
          </a:xfrm>
          <a:prstGeom prst="rect">
            <a:avLst/>
          </a:prstGeom>
          <a:noFill/>
        </p:spPr>
        <p:txBody>
          <a:bodyPr wrap="none">
            <a:spAutoFit/>
          </a:bodyPr>
          <a:lstStyle/>
          <a:p>
            <a:pPr>
              <a:defRPr sz="1050">
                <a:solidFill>
                  <a:srgbClr val="EBE5FA"/>
                </a:solidFill>
              </a:defRPr>
            </a:pPr>
            <a:r>
              <a:t>Expose the application Pods through a Kubernetes Service.</a:t>
            </a:r>
          </a:p>
        </p:txBody>
      </p:sp>
      <p:sp>
        <p:nvSpPr>
          <p:cNvPr id="19" name="Oval 18"/>
          <p:cNvSpPr/>
          <p:nvPr/>
        </p:nvSpPr>
        <p:spPr>
          <a:xfrm>
            <a:off x="8321040" y="3429000"/>
            <a:ext cx="530352" cy="530352"/>
          </a:xfrm>
          <a:prstGeom prst="ellipse">
            <a:avLst/>
          </a:prstGeom>
          <a:solidFill>
            <a:srgbClr val="43B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06</a:t>
            </a:r>
          </a:p>
        </p:txBody>
      </p:sp>
      <p:sp>
        <p:nvSpPr>
          <p:cNvPr id="20" name="TextBox 19"/>
          <p:cNvSpPr txBox="1"/>
          <p:nvPr/>
        </p:nvSpPr>
        <p:spPr>
          <a:xfrm>
            <a:off x="9006840" y="3410712"/>
            <a:ext cx="2926080" cy="365760"/>
          </a:xfrm>
          <a:prstGeom prst="rect">
            <a:avLst/>
          </a:prstGeom>
          <a:noFill/>
        </p:spPr>
        <p:txBody>
          <a:bodyPr wrap="none">
            <a:spAutoFit/>
          </a:bodyPr>
          <a:lstStyle/>
          <a:p>
            <a:pPr>
              <a:defRPr sz="1400" b="1">
                <a:solidFill>
                  <a:srgbClr val="FFFFFF"/>
                </a:solidFill>
              </a:defRPr>
            </a:pPr>
            <a:r>
              <a:t>Verify</a:t>
            </a:r>
          </a:p>
        </p:txBody>
      </p:sp>
      <p:sp>
        <p:nvSpPr>
          <p:cNvPr id="21" name="TextBox 20"/>
          <p:cNvSpPr txBox="1"/>
          <p:nvPr/>
        </p:nvSpPr>
        <p:spPr>
          <a:xfrm>
            <a:off x="9006840" y="3813048"/>
            <a:ext cx="2926080" cy="868680"/>
          </a:xfrm>
          <a:prstGeom prst="rect">
            <a:avLst/>
          </a:prstGeom>
          <a:noFill/>
        </p:spPr>
        <p:txBody>
          <a:bodyPr wrap="none">
            <a:spAutoFit/>
          </a:bodyPr>
          <a:lstStyle/>
          <a:p>
            <a:pPr>
              <a:defRPr sz="1050">
                <a:solidFill>
                  <a:srgbClr val="EBE5FA"/>
                </a:solidFill>
              </a:defRPr>
            </a:pPr>
            <a:r>
              <a:t>Check Pods and Service using kubectl.</a:t>
            </a:r>
          </a:p>
        </p:txBody>
      </p:sp>
      <p:sp>
        <p:nvSpPr>
          <p:cNvPr id="22" name="TextBox 21"/>
          <p:cNvSpPr txBox="1"/>
          <p:nvPr/>
        </p:nvSpPr>
        <p:spPr>
          <a:xfrm>
            <a:off x="594360" y="6565392"/>
            <a:ext cx="10972800" cy="182880"/>
          </a:xfrm>
          <a:prstGeom prst="rect">
            <a:avLst/>
          </a:prstGeom>
          <a:noFill/>
        </p:spPr>
        <p:txBody>
          <a:bodyPr wrap="none">
            <a:spAutoFit/>
          </a:bodyPr>
          <a:lstStyle/>
          <a:p>
            <a:pPr>
              <a:defRPr sz="900">
                <a:solidFill>
                  <a:srgbClr val="BEB2DC"/>
                </a:solidFill>
                <a:latin typeface="Aptos"/>
              </a:defRPr>
            </a:pPr>
            <a:r>
              <a:t>VoteSecure • Kubernetes Deployment • 22</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4082D"/>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3040128" cy="523220"/>
          </a:xfrm>
          <a:prstGeom prst="rect">
            <a:avLst/>
          </a:prstGeom>
          <a:noFill/>
        </p:spPr>
        <p:txBody>
          <a:bodyPr wrap="none">
            <a:spAutoFit/>
          </a:bodyPr>
          <a:lstStyle/>
          <a:p>
            <a:pPr>
              <a:defRPr sz="2800" b="1">
                <a:solidFill>
                  <a:srgbClr val="FFFFFF"/>
                </a:solidFill>
                <a:latin typeface="Aptos Display"/>
              </a:defRPr>
            </a:pPr>
            <a:r>
              <a:rPr dirty="0"/>
              <a:t>Technologies Used</a:t>
            </a:r>
          </a:p>
        </p:txBody>
      </p:sp>
      <p:sp>
        <p:nvSpPr>
          <p:cNvPr id="3" name="TextBox 2"/>
          <p:cNvSpPr txBox="1"/>
          <p:nvPr/>
        </p:nvSpPr>
        <p:spPr>
          <a:xfrm>
            <a:off x="621792" y="932688"/>
            <a:ext cx="10698480" cy="365760"/>
          </a:xfrm>
          <a:prstGeom prst="rect">
            <a:avLst/>
          </a:prstGeom>
          <a:noFill/>
        </p:spPr>
        <p:txBody>
          <a:bodyPr wrap="none">
            <a:spAutoFit/>
          </a:bodyPr>
          <a:lstStyle/>
          <a:p>
            <a:pPr>
              <a:defRPr sz="1200">
                <a:solidFill>
                  <a:srgbClr val="BEB2DC"/>
                </a:solidFill>
                <a:latin typeface="Aptos"/>
              </a:defRPr>
            </a:pPr>
            <a:r>
              <a:t>Original application technologies plus the Kubernetes deployment layer</a:t>
            </a:r>
          </a:p>
        </p:txBody>
      </p:sp>
      <p:sp>
        <p:nvSpPr>
          <p:cNvPr id="4" name="Rounded Rectangle 3"/>
          <p:cNvSpPr/>
          <p:nvPr/>
        </p:nvSpPr>
        <p:spPr>
          <a:xfrm>
            <a:off x="640080" y="1325880"/>
            <a:ext cx="3429000" cy="1417320"/>
          </a:xfrm>
          <a:prstGeom prst="roundRect">
            <a:avLst/>
          </a:prstGeom>
          <a:solidFill>
            <a:srgbClr val="26114C"/>
          </a:solidFill>
          <a:ln>
            <a:solidFill>
              <a:srgbClr val="4E9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04671" y="1444752"/>
            <a:ext cx="3108960" cy="347472"/>
          </a:xfrm>
          <a:prstGeom prst="rect">
            <a:avLst/>
          </a:prstGeom>
          <a:noFill/>
        </p:spPr>
        <p:txBody>
          <a:bodyPr wrap="none">
            <a:spAutoFit/>
          </a:bodyPr>
          <a:lstStyle/>
          <a:p>
            <a:pPr>
              <a:defRPr sz="1500" b="1">
                <a:solidFill>
                  <a:srgbClr val="FFFFFF"/>
                </a:solidFill>
                <a:latin typeface="Aptos"/>
              </a:defRPr>
            </a:pPr>
            <a:r>
              <a:t>Application</a:t>
            </a:r>
          </a:p>
        </p:txBody>
      </p:sp>
      <p:sp>
        <p:nvSpPr>
          <p:cNvPr id="6" name="TextBox 5"/>
          <p:cNvSpPr txBox="1"/>
          <p:nvPr/>
        </p:nvSpPr>
        <p:spPr>
          <a:xfrm>
            <a:off x="804671" y="1828800"/>
            <a:ext cx="3108960" cy="795528"/>
          </a:xfrm>
          <a:prstGeom prst="rect">
            <a:avLst/>
          </a:prstGeom>
          <a:noFill/>
        </p:spPr>
        <p:txBody>
          <a:bodyPr wrap="square">
            <a:spAutoFit/>
          </a:bodyPr>
          <a:lstStyle/>
          <a:p>
            <a:pPr>
              <a:spcAft>
                <a:spcPts val="400"/>
              </a:spcAft>
              <a:defRPr sz="1050">
                <a:solidFill>
                  <a:srgbClr val="EBE5FA"/>
                </a:solidFill>
                <a:latin typeface="Aptos"/>
              </a:defRPr>
            </a:pPr>
            <a:r>
              <a:t>HTML • CSS • JavaScript</a:t>
            </a:r>
          </a:p>
          <a:p>
            <a:pPr>
              <a:spcAft>
                <a:spcPts val="400"/>
              </a:spcAft>
              <a:defRPr sz="1050">
                <a:solidFill>
                  <a:srgbClr val="EBE5FA"/>
                </a:solidFill>
                <a:latin typeface="Aptos"/>
              </a:defRPr>
            </a:pPr>
            <a:r>
              <a:t>PHP • Apache • MySQL</a:t>
            </a:r>
          </a:p>
        </p:txBody>
      </p:sp>
      <p:sp>
        <p:nvSpPr>
          <p:cNvPr id="7" name="Rounded Rectangle 6"/>
          <p:cNvSpPr/>
          <p:nvPr/>
        </p:nvSpPr>
        <p:spPr>
          <a:xfrm>
            <a:off x="4389120" y="1325880"/>
            <a:ext cx="3429000" cy="1417320"/>
          </a:xfrm>
          <a:prstGeom prst="roundRect">
            <a:avLst/>
          </a:prstGeom>
          <a:solidFill>
            <a:srgbClr val="26114C"/>
          </a:solidFill>
          <a:ln>
            <a:solidFill>
              <a:srgbClr val="F597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53712" y="1444752"/>
            <a:ext cx="3108960" cy="347472"/>
          </a:xfrm>
          <a:prstGeom prst="rect">
            <a:avLst/>
          </a:prstGeom>
          <a:noFill/>
        </p:spPr>
        <p:txBody>
          <a:bodyPr wrap="none">
            <a:spAutoFit/>
          </a:bodyPr>
          <a:lstStyle/>
          <a:p>
            <a:pPr>
              <a:defRPr sz="1500" b="1">
                <a:solidFill>
                  <a:srgbClr val="FFFFFF"/>
                </a:solidFill>
                <a:latin typeface="Aptos"/>
              </a:defRPr>
            </a:pPr>
            <a:r>
              <a:t>AWS</a:t>
            </a:r>
          </a:p>
        </p:txBody>
      </p:sp>
      <p:sp>
        <p:nvSpPr>
          <p:cNvPr id="9" name="TextBox 8"/>
          <p:cNvSpPr txBox="1"/>
          <p:nvPr/>
        </p:nvSpPr>
        <p:spPr>
          <a:xfrm>
            <a:off x="4553712" y="1828800"/>
            <a:ext cx="3108960" cy="795528"/>
          </a:xfrm>
          <a:prstGeom prst="rect">
            <a:avLst/>
          </a:prstGeom>
          <a:noFill/>
        </p:spPr>
        <p:txBody>
          <a:bodyPr wrap="square">
            <a:spAutoFit/>
          </a:bodyPr>
          <a:lstStyle/>
          <a:p>
            <a:pPr>
              <a:spcAft>
                <a:spcPts val="400"/>
              </a:spcAft>
              <a:defRPr sz="1050">
                <a:solidFill>
                  <a:srgbClr val="EBE5FA"/>
                </a:solidFill>
                <a:latin typeface="Aptos"/>
              </a:defRPr>
            </a:pPr>
            <a:r>
              <a:t>AWS environment</a:t>
            </a:r>
          </a:p>
          <a:p>
            <a:pPr>
              <a:spcAft>
                <a:spcPts val="400"/>
              </a:spcAft>
              <a:defRPr sz="1050">
                <a:solidFill>
                  <a:srgbClr val="EBE5FA"/>
                </a:solidFill>
                <a:latin typeface="Aptos"/>
              </a:defRPr>
            </a:pPr>
            <a:r>
              <a:t>VPC • IAM • Cloud services</a:t>
            </a:r>
          </a:p>
        </p:txBody>
      </p:sp>
      <p:sp>
        <p:nvSpPr>
          <p:cNvPr id="10" name="Rounded Rectangle 9"/>
          <p:cNvSpPr/>
          <p:nvPr/>
        </p:nvSpPr>
        <p:spPr>
          <a:xfrm>
            <a:off x="8138160" y="1325880"/>
            <a:ext cx="3429000" cy="1417320"/>
          </a:xfrm>
          <a:prstGeom prst="roundRect">
            <a:avLst/>
          </a:prstGeom>
          <a:solidFill>
            <a:srgbClr val="26114C"/>
          </a:solidFill>
          <a:ln>
            <a:solidFill>
              <a:srgbClr val="43BE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02752" y="1444752"/>
            <a:ext cx="3108960" cy="347472"/>
          </a:xfrm>
          <a:prstGeom prst="rect">
            <a:avLst/>
          </a:prstGeom>
          <a:noFill/>
        </p:spPr>
        <p:txBody>
          <a:bodyPr wrap="none">
            <a:spAutoFit/>
          </a:bodyPr>
          <a:lstStyle/>
          <a:p>
            <a:pPr>
              <a:defRPr sz="1500" b="1">
                <a:solidFill>
                  <a:srgbClr val="FFFFFF"/>
                </a:solidFill>
                <a:latin typeface="Aptos"/>
              </a:defRPr>
            </a:pPr>
            <a:r>
              <a:t>Container</a:t>
            </a:r>
          </a:p>
        </p:txBody>
      </p:sp>
      <p:sp>
        <p:nvSpPr>
          <p:cNvPr id="12" name="TextBox 11"/>
          <p:cNvSpPr txBox="1"/>
          <p:nvPr/>
        </p:nvSpPr>
        <p:spPr>
          <a:xfrm>
            <a:off x="8302752" y="1828800"/>
            <a:ext cx="3108960" cy="795528"/>
          </a:xfrm>
          <a:prstGeom prst="rect">
            <a:avLst/>
          </a:prstGeom>
          <a:noFill/>
        </p:spPr>
        <p:txBody>
          <a:bodyPr wrap="square">
            <a:spAutoFit/>
          </a:bodyPr>
          <a:lstStyle/>
          <a:p>
            <a:pPr>
              <a:spcAft>
                <a:spcPts val="400"/>
              </a:spcAft>
              <a:defRPr sz="1050">
                <a:solidFill>
                  <a:srgbClr val="EBE5FA"/>
                </a:solidFill>
                <a:latin typeface="Aptos"/>
              </a:defRPr>
            </a:pPr>
            <a:r>
              <a:t>Docker</a:t>
            </a:r>
          </a:p>
          <a:p>
            <a:pPr>
              <a:spcAft>
                <a:spcPts val="400"/>
              </a:spcAft>
              <a:defRPr sz="1050">
                <a:solidFill>
                  <a:srgbClr val="EBE5FA"/>
                </a:solidFill>
                <a:latin typeface="Aptos"/>
              </a:defRPr>
            </a:pPr>
            <a:r>
              <a:t>Docker Image</a:t>
            </a:r>
          </a:p>
          <a:p>
            <a:pPr>
              <a:spcAft>
                <a:spcPts val="400"/>
              </a:spcAft>
              <a:defRPr sz="1050">
                <a:solidFill>
                  <a:srgbClr val="EBE5FA"/>
                </a:solidFill>
                <a:latin typeface="Aptos"/>
              </a:defRPr>
            </a:pPr>
            <a:r>
              <a:t>Docker Hub</a:t>
            </a:r>
          </a:p>
        </p:txBody>
      </p:sp>
      <p:sp>
        <p:nvSpPr>
          <p:cNvPr id="13" name="Rounded Rectangle 12"/>
          <p:cNvSpPr/>
          <p:nvPr/>
        </p:nvSpPr>
        <p:spPr>
          <a:xfrm>
            <a:off x="640080" y="3063240"/>
            <a:ext cx="3429000" cy="1417320"/>
          </a:xfrm>
          <a:prstGeom prst="roundRect">
            <a:avLst/>
          </a:prstGeom>
          <a:solidFill>
            <a:srgbClr val="26114C"/>
          </a:solidFill>
          <a:ln>
            <a:solidFill>
              <a:srgbClr val="975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4671" y="3182112"/>
            <a:ext cx="3108960" cy="347472"/>
          </a:xfrm>
          <a:prstGeom prst="rect">
            <a:avLst/>
          </a:prstGeom>
          <a:noFill/>
        </p:spPr>
        <p:txBody>
          <a:bodyPr wrap="none">
            <a:spAutoFit/>
          </a:bodyPr>
          <a:lstStyle/>
          <a:p>
            <a:pPr>
              <a:defRPr sz="1500" b="1">
                <a:solidFill>
                  <a:srgbClr val="FFFFFF"/>
                </a:solidFill>
                <a:latin typeface="Aptos"/>
              </a:defRPr>
            </a:pPr>
            <a:r>
              <a:t>Kubernetes</a:t>
            </a:r>
          </a:p>
        </p:txBody>
      </p:sp>
      <p:sp>
        <p:nvSpPr>
          <p:cNvPr id="15" name="TextBox 14"/>
          <p:cNvSpPr txBox="1"/>
          <p:nvPr/>
        </p:nvSpPr>
        <p:spPr>
          <a:xfrm>
            <a:off x="804671" y="3566160"/>
            <a:ext cx="3108960" cy="795528"/>
          </a:xfrm>
          <a:prstGeom prst="rect">
            <a:avLst/>
          </a:prstGeom>
          <a:noFill/>
        </p:spPr>
        <p:txBody>
          <a:bodyPr wrap="square">
            <a:spAutoFit/>
          </a:bodyPr>
          <a:lstStyle/>
          <a:p>
            <a:pPr>
              <a:spcAft>
                <a:spcPts val="400"/>
              </a:spcAft>
              <a:defRPr sz="1050">
                <a:solidFill>
                  <a:srgbClr val="EBE5FA"/>
                </a:solidFill>
                <a:latin typeface="Aptos"/>
              </a:defRPr>
            </a:pPr>
            <a:r>
              <a:t>Deployment • Pods • Service</a:t>
            </a:r>
          </a:p>
          <a:p>
            <a:pPr>
              <a:spcAft>
                <a:spcPts val="400"/>
              </a:spcAft>
              <a:defRPr sz="1050">
                <a:solidFill>
                  <a:srgbClr val="EBE5FA"/>
                </a:solidFill>
                <a:latin typeface="Aptos"/>
              </a:defRPr>
            </a:pPr>
            <a:r>
              <a:t>Kubernetes YAML</a:t>
            </a:r>
          </a:p>
        </p:txBody>
      </p:sp>
      <p:sp>
        <p:nvSpPr>
          <p:cNvPr id="16" name="Rounded Rectangle 15"/>
          <p:cNvSpPr/>
          <p:nvPr/>
        </p:nvSpPr>
        <p:spPr>
          <a:xfrm>
            <a:off x="4389120" y="3063240"/>
            <a:ext cx="3429000" cy="1417320"/>
          </a:xfrm>
          <a:prstGeom prst="roundRect">
            <a:avLst/>
          </a:prstGeom>
          <a:solidFill>
            <a:srgbClr val="26114C"/>
          </a:solidFill>
          <a:ln>
            <a:solidFill>
              <a:srgbClr val="4E9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53712" y="3182112"/>
            <a:ext cx="3108960" cy="347472"/>
          </a:xfrm>
          <a:prstGeom prst="rect">
            <a:avLst/>
          </a:prstGeom>
          <a:noFill/>
        </p:spPr>
        <p:txBody>
          <a:bodyPr wrap="none">
            <a:spAutoFit/>
          </a:bodyPr>
          <a:lstStyle/>
          <a:p>
            <a:pPr>
              <a:defRPr sz="1500" b="1">
                <a:solidFill>
                  <a:srgbClr val="FFFFFF"/>
                </a:solidFill>
                <a:latin typeface="Aptos"/>
              </a:defRPr>
            </a:pPr>
            <a:r>
              <a:t>Version Control</a:t>
            </a:r>
          </a:p>
        </p:txBody>
      </p:sp>
      <p:sp>
        <p:nvSpPr>
          <p:cNvPr id="18" name="TextBox 17"/>
          <p:cNvSpPr txBox="1"/>
          <p:nvPr/>
        </p:nvSpPr>
        <p:spPr>
          <a:xfrm>
            <a:off x="4553712" y="3566160"/>
            <a:ext cx="3108960" cy="795528"/>
          </a:xfrm>
          <a:prstGeom prst="rect">
            <a:avLst/>
          </a:prstGeom>
          <a:noFill/>
        </p:spPr>
        <p:txBody>
          <a:bodyPr wrap="square">
            <a:spAutoFit/>
          </a:bodyPr>
          <a:lstStyle/>
          <a:p>
            <a:pPr>
              <a:spcAft>
                <a:spcPts val="400"/>
              </a:spcAft>
              <a:defRPr sz="1050">
                <a:solidFill>
                  <a:srgbClr val="EBE5FA"/>
                </a:solidFill>
                <a:latin typeface="Aptos"/>
              </a:defRPr>
            </a:pPr>
            <a:r>
              <a:t>Git • GitHub</a:t>
            </a:r>
          </a:p>
        </p:txBody>
      </p:sp>
      <p:sp>
        <p:nvSpPr>
          <p:cNvPr id="19" name="Rounded Rectangle 18"/>
          <p:cNvSpPr/>
          <p:nvPr/>
        </p:nvSpPr>
        <p:spPr>
          <a:xfrm>
            <a:off x="8138160" y="3063240"/>
            <a:ext cx="3429000" cy="1417320"/>
          </a:xfrm>
          <a:prstGeom prst="roundRect">
            <a:avLst/>
          </a:prstGeom>
          <a:solidFill>
            <a:srgbClr val="26114C"/>
          </a:solidFill>
          <a:ln>
            <a:solidFill>
              <a:srgbClr val="F597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02752" y="3182112"/>
            <a:ext cx="3108960" cy="347472"/>
          </a:xfrm>
          <a:prstGeom prst="rect">
            <a:avLst/>
          </a:prstGeom>
          <a:noFill/>
        </p:spPr>
        <p:txBody>
          <a:bodyPr wrap="none">
            <a:spAutoFit/>
          </a:bodyPr>
          <a:lstStyle/>
          <a:p>
            <a:pPr>
              <a:defRPr sz="1500" b="1">
                <a:solidFill>
                  <a:srgbClr val="FFFFFF"/>
                </a:solidFill>
                <a:latin typeface="Aptos"/>
              </a:defRPr>
            </a:pPr>
            <a:r>
              <a:t>Deployment Tool</a:t>
            </a:r>
          </a:p>
        </p:txBody>
      </p:sp>
      <p:sp>
        <p:nvSpPr>
          <p:cNvPr id="21" name="TextBox 20"/>
          <p:cNvSpPr txBox="1"/>
          <p:nvPr/>
        </p:nvSpPr>
        <p:spPr>
          <a:xfrm>
            <a:off x="8302752" y="3566160"/>
            <a:ext cx="3108960" cy="795528"/>
          </a:xfrm>
          <a:prstGeom prst="rect">
            <a:avLst/>
          </a:prstGeom>
          <a:noFill/>
        </p:spPr>
        <p:txBody>
          <a:bodyPr wrap="square">
            <a:spAutoFit/>
          </a:bodyPr>
          <a:lstStyle/>
          <a:p>
            <a:pPr>
              <a:spcAft>
                <a:spcPts val="400"/>
              </a:spcAft>
              <a:defRPr sz="1050">
                <a:solidFill>
                  <a:srgbClr val="EBE5FA"/>
                </a:solidFill>
                <a:latin typeface="Aptos"/>
              </a:defRPr>
            </a:pPr>
            <a:r>
              <a:t>kubectl</a:t>
            </a:r>
          </a:p>
          <a:p>
            <a:pPr>
              <a:spcAft>
                <a:spcPts val="400"/>
              </a:spcAft>
              <a:defRPr sz="1050">
                <a:solidFill>
                  <a:srgbClr val="EBE5FA"/>
                </a:solidFill>
                <a:latin typeface="Aptos"/>
              </a:defRPr>
            </a:pPr>
            <a:r>
              <a:t>Kubernetes manifests</a:t>
            </a:r>
          </a:p>
          <a:p>
            <a:pPr>
              <a:spcAft>
                <a:spcPts val="400"/>
              </a:spcAft>
              <a:defRPr sz="1050">
                <a:solidFill>
                  <a:srgbClr val="EBE5FA"/>
                </a:solidFill>
                <a:latin typeface="Aptos"/>
              </a:defRPr>
            </a:pPr>
            <a:r>
              <a:t>Cluster resource management</a:t>
            </a:r>
          </a:p>
        </p:txBody>
      </p:sp>
      <p:sp>
        <p:nvSpPr>
          <p:cNvPr id="22" name="Rounded Rectangle 21"/>
          <p:cNvSpPr/>
          <p:nvPr/>
        </p:nvSpPr>
        <p:spPr>
          <a:xfrm>
            <a:off x="2514600" y="4800600"/>
            <a:ext cx="7178040" cy="868680"/>
          </a:xfrm>
          <a:prstGeom prst="roundRect">
            <a:avLst/>
          </a:prstGeom>
          <a:solidFill>
            <a:srgbClr val="26114C"/>
          </a:solidFill>
          <a:ln>
            <a:solidFill>
              <a:srgbClr val="975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679192" y="4919472"/>
            <a:ext cx="6858000" cy="347472"/>
          </a:xfrm>
          <a:prstGeom prst="rect">
            <a:avLst/>
          </a:prstGeom>
          <a:noFill/>
        </p:spPr>
        <p:txBody>
          <a:bodyPr wrap="none">
            <a:spAutoFit/>
          </a:bodyPr>
          <a:lstStyle/>
          <a:p>
            <a:pPr>
              <a:defRPr sz="1500" b="1">
                <a:solidFill>
                  <a:srgbClr val="FFFFFF"/>
                </a:solidFill>
                <a:latin typeface="Aptos"/>
              </a:defRPr>
            </a:pPr>
            <a:r>
              <a:t>Updated Deployment Stack</a:t>
            </a:r>
          </a:p>
        </p:txBody>
      </p:sp>
      <p:sp>
        <p:nvSpPr>
          <p:cNvPr id="24" name="TextBox 23"/>
          <p:cNvSpPr txBox="1"/>
          <p:nvPr/>
        </p:nvSpPr>
        <p:spPr>
          <a:xfrm>
            <a:off x="2679192" y="5303520"/>
            <a:ext cx="6858000" cy="246887"/>
          </a:xfrm>
          <a:prstGeom prst="rect">
            <a:avLst/>
          </a:prstGeom>
          <a:noFill/>
        </p:spPr>
        <p:txBody>
          <a:bodyPr wrap="square">
            <a:spAutoFit/>
          </a:bodyPr>
          <a:lstStyle/>
          <a:p>
            <a:pPr>
              <a:spcAft>
                <a:spcPts val="400"/>
              </a:spcAft>
              <a:defRPr sz="1050">
                <a:solidFill>
                  <a:srgbClr val="EBE5FA"/>
                </a:solidFill>
                <a:latin typeface="Aptos"/>
              </a:defRPr>
            </a:pPr>
            <a:r>
              <a:t>Code → Docker Image → Docker Hub → Kubernetes Deployment → Pods → Service → Voting Application</a:t>
            </a:r>
          </a:p>
        </p:txBody>
      </p:sp>
      <p:sp>
        <p:nvSpPr>
          <p:cNvPr id="25" name="TextBox 24"/>
          <p:cNvSpPr txBox="1"/>
          <p:nvPr/>
        </p:nvSpPr>
        <p:spPr>
          <a:xfrm>
            <a:off x="594360" y="6565392"/>
            <a:ext cx="10972800" cy="182880"/>
          </a:xfrm>
          <a:prstGeom prst="rect">
            <a:avLst/>
          </a:prstGeom>
          <a:noFill/>
        </p:spPr>
        <p:txBody>
          <a:bodyPr wrap="none">
            <a:spAutoFit/>
          </a:bodyPr>
          <a:lstStyle/>
          <a:p>
            <a:pPr>
              <a:defRPr sz="900">
                <a:solidFill>
                  <a:srgbClr val="BEB2DC"/>
                </a:solidFill>
                <a:latin typeface="Aptos"/>
              </a:defRPr>
            </a:pPr>
            <a:r>
              <a:t>VoteSecure • Kubernetes Deployment • 23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A6CBCE-1866-D33F-A8BE-4D57433D970A}"/>
              </a:ext>
            </a:extLst>
          </p:cNvPr>
          <p:cNvSpPr>
            <a:spLocks noGrp="1"/>
          </p:cNvSpPr>
          <p:nvPr>
            <p:ph type="title"/>
          </p:nvPr>
        </p:nvSpPr>
        <p:spPr/>
        <p:txBody>
          <a:bodyPr/>
          <a:lstStyle/>
          <a:p>
            <a:pPr algn="ctr"/>
            <a:r>
              <a:rPr lang="en-IN" b="1" dirty="0"/>
              <a:t>Results Achieved</a:t>
            </a:r>
          </a:p>
        </p:txBody>
      </p:sp>
      <p:sp>
        <p:nvSpPr>
          <p:cNvPr id="3" name="Content Placeholder 2">
            <a:extLst>
              <a:ext uri="{FF2B5EF4-FFF2-40B4-BE49-F238E27FC236}">
                <a16:creationId xmlns:a16="http://schemas.microsoft.com/office/drawing/2014/main" id="{ECE29A03-C92B-1CFA-3130-6E1257AE54A1}"/>
              </a:ext>
            </a:extLst>
          </p:cNvPr>
          <p:cNvSpPr>
            <a:spLocks noGrp="1"/>
          </p:cNvSpPr>
          <p:nvPr>
            <p:ph idx="1"/>
          </p:nvPr>
        </p:nvSpPr>
        <p:spPr/>
        <p:txBody>
          <a:bodyPr/>
          <a:lstStyle/>
          <a:p>
            <a:r>
              <a:rPr lang="en-IN" dirty="0"/>
              <a:t>Successfully deployed the application on AWS K8S.</a:t>
            </a:r>
          </a:p>
          <a:p>
            <a:r>
              <a:rPr lang="en-IN" dirty="0"/>
              <a:t>Implemented secure voter registration and authentication.</a:t>
            </a:r>
          </a:p>
          <a:p>
            <a:r>
              <a:rPr lang="en-IN" dirty="0"/>
              <a:t>Prevented duplicate voting through system validation.</a:t>
            </a:r>
          </a:p>
          <a:p>
            <a:r>
              <a:rPr lang="en-IN" dirty="0"/>
              <a:t>Generated election results automatically.</a:t>
            </a:r>
          </a:p>
          <a:p>
            <a:r>
              <a:rPr lang="en-IN" dirty="0"/>
              <a:t>Reduced manual effort and paperwork.</a:t>
            </a:r>
          </a:p>
          <a:p>
            <a:r>
              <a:rPr lang="en-IN" dirty="0"/>
              <a:t>Improved accessibility through cloud-based deployment.</a:t>
            </a:r>
          </a:p>
        </p:txBody>
      </p:sp>
    </p:spTree>
    <p:extLst>
      <p:ext uri="{BB962C8B-B14F-4D97-AF65-F5344CB8AC3E}">
        <p14:creationId xmlns:p14="http://schemas.microsoft.com/office/powerpoint/2010/main" val="5211300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326316-4332-E2D9-220D-2719A112C359}"/>
              </a:ext>
            </a:extLst>
          </p:cNvPr>
          <p:cNvSpPr>
            <a:spLocks noGrp="1"/>
          </p:cNvSpPr>
          <p:nvPr>
            <p:ph type="title"/>
          </p:nvPr>
        </p:nvSpPr>
        <p:spPr/>
        <p:txBody>
          <a:bodyPr/>
          <a:lstStyle/>
          <a:p>
            <a:pPr algn="ctr"/>
            <a:r>
              <a:rPr lang="en-US" b="1" dirty="0"/>
              <a:t>CONCLUSION</a:t>
            </a:r>
            <a:endParaRPr lang="en-IN" b="1" dirty="0"/>
          </a:p>
        </p:txBody>
      </p:sp>
      <p:sp>
        <p:nvSpPr>
          <p:cNvPr id="3" name="Content Placeholder 2">
            <a:extLst>
              <a:ext uri="{FF2B5EF4-FFF2-40B4-BE49-F238E27FC236}">
                <a16:creationId xmlns:a16="http://schemas.microsoft.com/office/drawing/2014/main" id="{7F9F1E2A-4010-0CDA-BF1D-03DED1911A9F}"/>
              </a:ext>
            </a:extLst>
          </p:cNvPr>
          <p:cNvSpPr>
            <a:spLocks noGrp="1"/>
          </p:cNvSpPr>
          <p:nvPr>
            <p:ph idx="1"/>
          </p:nvPr>
        </p:nvSpPr>
        <p:spPr/>
        <p:txBody>
          <a:bodyPr>
            <a:normAutofit/>
          </a:bodyPr>
          <a:lstStyle/>
          <a:p>
            <a:r>
              <a:rPr lang="en-IN" b="1" dirty="0"/>
              <a:t>To conclude, we developed a Cloud-Based Online Voting System using HTML, CSS, JavaScript, PHP and MySQL. The system provides voter registration, authentication, online voting, one-user-one-vote validation and automatic result generation.</a:t>
            </a:r>
            <a:endParaRPr lang="en-IN" dirty="0"/>
          </a:p>
          <a:p>
            <a:r>
              <a:rPr lang="en-IN" b="1" dirty="0"/>
              <a:t>For deployment, we containerized the application using Docker and stored the Docker image in Docker Hub. We then deployed the application using Kubernetes. Kubernetes Deployment manages the application Pods, and Kubernetes Service provides access to the application.</a:t>
            </a:r>
            <a:endParaRPr lang="en-IN" dirty="0"/>
          </a:p>
          <a:p>
            <a:r>
              <a:rPr lang="en-IN" b="1" dirty="0"/>
              <a:t>Therefore, our project demonstrates both the development of an online voting application and its containerized deployment using Kubernetes in an AWS cloud environment.</a:t>
            </a:r>
            <a:endParaRPr lang="en-IN" dirty="0"/>
          </a:p>
          <a:p>
            <a:pPr marL="0" indent="0">
              <a:buNone/>
            </a:pPr>
            <a:endParaRPr lang="en-IN" dirty="0">
              <a:latin typeface="Century Gothic (Body)"/>
            </a:endParaRPr>
          </a:p>
        </p:txBody>
      </p:sp>
    </p:spTree>
    <p:extLst>
      <p:ext uri="{BB962C8B-B14F-4D97-AF65-F5344CB8AC3E}">
        <p14:creationId xmlns:p14="http://schemas.microsoft.com/office/powerpoint/2010/main" val="260292803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Boardroom">
  <a:themeElements>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B8502691-933B-45FE-8764-BA278511EF27}"/>
    </a:ext>
  </a:extLst>
</a:theme>
</file>

<file path=docProps/app.xml><?xml version="1.0" encoding="utf-8"?>
<Properties xmlns="http://schemas.openxmlformats.org/officeDocument/2006/extended-properties" xmlns:vt="http://schemas.openxmlformats.org/officeDocument/2006/docPropsVTypes">
  <Template>Ion Boardroom</Template>
  <TotalTime>1574</TotalTime>
  <Words>1118</Words>
  <Application>Microsoft Office PowerPoint</Application>
  <PresentationFormat>Widescreen</PresentationFormat>
  <Paragraphs>177</Paragraphs>
  <Slides>21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Arial</vt:lpstr>
      <vt:lpstr>Century Gothic</vt:lpstr>
      <vt:lpstr>Century Gothic (Body)</vt:lpstr>
      <vt:lpstr>Times New Roman</vt:lpstr>
      <vt:lpstr>Wingdings 3</vt:lpstr>
      <vt:lpstr>Ion Boardroom</vt:lpstr>
      <vt:lpstr>Cloud-Based Online Voting System Using AWS &amp; DevOps </vt:lpstr>
      <vt:lpstr>Introduction</vt:lpstr>
      <vt:lpstr>Problem Definition</vt:lpstr>
      <vt:lpstr>Objectives Achieved</vt:lpstr>
      <vt:lpstr>Scope of the Project</vt:lpstr>
      <vt:lpstr>Technologies Used</vt:lpstr>
      <vt:lpstr>Implementation</vt:lpstr>
      <vt:lpstr>Testing and Validation</vt:lpstr>
      <vt:lpstr>FINAL OUTPUT</vt:lpstr>
      <vt:lpstr>Admin Login Portal</vt:lpstr>
      <vt:lpstr>User Login Portal</vt:lpstr>
      <vt:lpstr>Voter Dashboard – Available Election</vt:lpstr>
      <vt:lpstr>Admin Dashboard of Online Voting System</vt:lpstr>
      <vt:lpstr>Future Scope</vt:lpstr>
      <vt:lpstr>PowerPoint Presentation</vt:lpstr>
      <vt:lpstr>PowerPoint Presentation</vt:lpstr>
      <vt:lpstr>PowerPoint Presentation</vt:lpstr>
      <vt:lpstr>PowerPoint Presentation</vt:lpstr>
      <vt:lpstr>PowerPoint Presentation</vt:lpstr>
      <vt:lpstr>Results Achieved</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varad bhosale</dc:creator>
  <cp:lastModifiedBy>Vaibhav Mungal</cp:lastModifiedBy>
  <cp:revision>9</cp:revision>
  <dcterms:created xsi:type="dcterms:W3CDTF">2025-12-07T12:31:51Z</dcterms:created>
  <dcterms:modified xsi:type="dcterms:W3CDTF">2026-09-23T05:00:44Z</dcterms:modified>
</cp:coreProperties>
</file>